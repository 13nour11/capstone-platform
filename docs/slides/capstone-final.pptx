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0" r:id="rId3"/>
    <p:sldId id="257" r:id="rId4"/>
    <p:sldId id="258" r:id="rId5"/>
    <p:sldId id="259" r:id="rId6"/>
    <p:sldId id="260" r:id="rId7"/>
    <p:sldId id="261" r:id="rId8"/>
    <p:sldId id="262" r:id="rId9"/>
    <p:sldId id="264" r:id="rId10"/>
    <p:sldId id="263" r:id="rId11"/>
    <p:sldId id="267" r:id="rId12"/>
    <p:sldId id="265" r:id="rId13"/>
    <p:sldId id="266" r:id="rId14"/>
    <p:sldId id="268"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38108A2-D61F-DFE6-9545-102A5D462D0A}">
          <p14:sldIdLst>
            <p14:sldId id="256"/>
            <p14:sldId id="270"/>
          </p14:sldIdLst>
        </p14:section>
        <p14:section name="Architecture" id="{F76B243D-7286-25EC-9D04-2559ECB70DD9}">
          <p14:sldIdLst>
            <p14:sldId id="257"/>
            <p14:sldId id="258"/>
            <p14:sldId id="259"/>
            <p14:sldId id="260"/>
            <p14:sldId id="261"/>
          </p14:sldIdLst>
        </p14:section>
        <p14:section name="Implementation" id="{B2434C25-559C-09CB-1EBB-EC62F51F9B9B}">
          <p14:sldIdLst>
            <p14:sldId id="262"/>
            <p14:sldId id="264"/>
            <p14:sldId id="263"/>
            <p14:sldId id="267"/>
            <p14:sldId id="265"/>
            <p14:sldId id="266"/>
          </p14:sldIdLst>
        </p14:section>
        <p14:section name="Lessons" id="{1765C54B-27D1-6378-4A08-435ADE8D6A4A}">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3C49"/>
                </a:solidFill>
                <a:latin typeface="+mn-lt"/>
              </a:defRPr>
            </a:pPr>
            <a:r>
              <a:rPr sz="1400" b="0" i="0" u="none" strike="noStrike">
                <a:solidFill>
                  <a:srgbClr val="0B3C49"/>
                </a:solidFill>
                <a:latin typeface="+mn-lt"/>
              </a:rPr>
              <a:t>k6 load-test.js, full profile, 5 min (ms)</a:t>
            </a:r>
          </a:p>
        </c:rich>
      </c:tx>
      <c:overlay val="0"/>
    </c:title>
    <c:autoTitleDeleted val="0"/>
    <c:plotArea>
      <c:layout/>
      <c:barChart>
        <c:barDir val="col"/>
        <c:grouping val="clustered"/>
        <c:varyColors val="0"/>
        <c:ser>
          <c:idx val="0"/>
          <c:order val="0"/>
          <c:tx>
            <c:strRef>
              <c:f>Sheet1!$B$1</c:f>
              <c:strCache>
                <c:ptCount val="1"/>
                <c:pt idx="0">
                  <c:v>Target</c:v>
                </c:pt>
              </c:strCache>
            </c:strRef>
          </c:tx>
          <c:spPr>
            <a:solidFill>
              <a:srgbClr val="8AB0AB"/>
            </a:solidFill>
            <a:effectLst/>
          </c:spPr>
          <c:invertIfNegative val="0"/>
          <c:dLbls>
            <c:numFmt formatCode="0&quot; ms&quot;" sourceLinked="0"/>
            <c:spPr>
              <a:noFill/>
              <a:ln>
                <a:noFill/>
              </a:ln>
              <a:effectLst/>
            </c:spPr>
            <c:txPr>
              <a:bodyPr/>
              <a:lstStyle/>
              <a:p>
                <a:pPr>
                  <a:defRPr sz="1200" b="0" i="0" u="none" strike="noStrike">
                    <a:solidFill>
                      <a:srgbClr val="1B2A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GET /products p95</c:v>
                </c:pt>
                <c:pt idx="1">
                  <c:v>POST /orders p95</c:v>
                </c:pt>
              </c:strCache>
            </c:strRef>
          </c:cat>
          <c:val>
            <c:numRef>
              <c:f>Sheet1!$B$2:$B$3</c:f>
              <c:numCache>
                <c:formatCode>General</c:formatCode>
                <c:ptCount val="2"/>
                <c:pt idx="0">
                  <c:v>200</c:v>
                </c:pt>
                <c:pt idx="1">
                  <c:v>800</c:v>
                </c:pt>
              </c:numCache>
            </c:numRef>
          </c:val>
          <c:extLst>
            <c:ext xmlns:c16="http://schemas.microsoft.com/office/drawing/2014/chart" uri="{C3380CC4-5D6E-409C-BE32-E72D297353CC}">
              <c16:uniqueId val="{00000000-9E18-4939-8855-48FA13B18EB6}"/>
            </c:ext>
          </c:extLst>
        </c:ser>
        <c:ser>
          <c:idx val="1"/>
          <c:order val="1"/>
          <c:tx>
            <c:strRef>
              <c:f>Sheet1!$C$1</c:f>
              <c:strCache>
                <c:ptCount val="1"/>
                <c:pt idx="0">
                  <c:v>Measured (20 VUs)</c:v>
                </c:pt>
              </c:strCache>
            </c:strRef>
          </c:tx>
          <c:spPr>
            <a:solidFill>
              <a:srgbClr val="0B3C49"/>
            </a:solidFill>
            <a:effectLst/>
          </c:spPr>
          <c:invertIfNegative val="0"/>
          <c:dLbls>
            <c:numFmt formatCode="0&quot; ms&quot;" sourceLinked="0"/>
            <c:spPr>
              <a:noFill/>
              <a:ln>
                <a:noFill/>
              </a:ln>
              <a:effectLst/>
            </c:spPr>
            <c:txPr>
              <a:bodyPr/>
              <a:lstStyle/>
              <a:p>
                <a:pPr>
                  <a:defRPr sz="1200" b="0" i="0" u="none" strike="noStrike">
                    <a:solidFill>
                      <a:srgbClr val="1B2A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GET /products p95</c:v>
                </c:pt>
                <c:pt idx="1">
                  <c:v>POST /orders p95</c:v>
                </c:pt>
              </c:strCache>
            </c:strRef>
          </c:cat>
          <c:val>
            <c:numRef>
              <c:f>Sheet1!$C$2:$C$3</c:f>
              <c:numCache>
                <c:formatCode>General</c:formatCode>
                <c:ptCount val="2"/>
                <c:pt idx="0">
                  <c:v>475</c:v>
                </c:pt>
                <c:pt idx="1">
                  <c:v>487</c:v>
                </c:pt>
              </c:numCache>
            </c:numRef>
          </c:val>
          <c:extLst>
            <c:ext xmlns:c16="http://schemas.microsoft.com/office/drawing/2014/chart" uri="{C3380CC4-5D6E-409C-BE32-E72D297353CC}">
              <c16:uniqueId val="{00000001-9E18-4939-8855-48FA13B18EB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0"/>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3C49"/>
                </a:solidFill>
                <a:latin typeface="+mn-lt"/>
              </a:defRPr>
            </a:pPr>
            <a:r>
              <a:rPr lang="en-US" sz="1400" b="0" i="0" u="none" strike="noStrike">
                <a:solidFill>
                  <a:srgbClr val="0B3C49"/>
                </a:solidFill>
                <a:latin typeface="+mn-lt"/>
              </a:rPr>
              <a:t>331 tests per module (mvn verify)</a:t>
            </a:r>
          </a:p>
        </c:rich>
      </c:tx>
      <c:overlay val="0"/>
    </c:title>
    <c:autoTitleDeleted val="0"/>
    <c:plotArea>
      <c:layout/>
      <c:barChart>
        <c:barDir val="bar"/>
        <c:grouping val="clustered"/>
        <c:varyColors val="0"/>
        <c:ser>
          <c:idx val="0"/>
          <c:order val="0"/>
          <c:tx>
            <c:strRef>
              <c:f>Sheet1!$B$1</c:f>
              <c:strCache>
                <c:ptCount val="1"/>
                <c:pt idx="0">
                  <c:v>Tests</c:v>
                </c:pt>
              </c:strCache>
            </c:strRef>
          </c:tx>
          <c:spPr>
            <a:solidFill>
              <a:srgbClr val="2A9D8F"/>
            </a:solidFill>
            <a:effectLst/>
          </c:spPr>
          <c:invertIfNegative val="0"/>
          <c:dLbls>
            <c:numFmt formatCode="#,##0" sourceLinked="0"/>
            <c:spPr>
              <a:noFill/>
              <a:ln>
                <a:noFill/>
              </a:ln>
              <a:effectLst/>
            </c:spPr>
            <c:txPr>
              <a:bodyPr/>
              <a:lstStyle/>
              <a:p>
                <a:pPr>
                  <a:defRPr sz="1200" b="0" i="0" u="none" strike="noStrike">
                    <a:solidFill>
                      <a:srgbClr val="1B2A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payment-service</c:v>
                </c:pt>
                <c:pt idx="1">
                  <c:v>order-service</c:v>
                </c:pt>
                <c:pt idx="2">
                  <c:v>inventory-service</c:v>
                </c:pt>
                <c:pt idx="3">
                  <c:v>api-gateway</c:v>
                </c:pt>
                <c:pt idx="4">
                  <c:v>product-service</c:v>
                </c:pt>
                <c:pt idx="5">
                  <c:v>notification-service</c:v>
                </c:pt>
                <c:pt idx="6">
                  <c:v>review-service</c:v>
                </c:pt>
                <c:pt idx="7">
                  <c:v>config-server</c:v>
                </c:pt>
                <c:pt idx="8">
                  <c:v>eureka-server</c:v>
                </c:pt>
              </c:strCache>
            </c:strRef>
          </c:cat>
          <c:val>
            <c:numRef>
              <c:f>Sheet1!$B$2:$B$10</c:f>
              <c:numCache>
                <c:formatCode>General</c:formatCode>
                <c:ptCount val="9"/>
                <c:pt idx="0">
                  <c:v>74</c:v>
                </c:pt>
                <c:pt idx="1">
                  <c:v>71</c:v>
                </c:pt>
                <c:pt idx="2">
                  <c:v>54</c:v>
                </c:pt>
                <c:pt idx="3">
                  <c:v>47</c:v>
                </c:pt>
                <c:pt idx="4">
                  <c:v>46</c:v>
                </c:pt>
                <c:pt idx="5">
                  <c:v>24</c:v>
                </c:pt>
                <c:pt idx="6">
                  <c:v>9</c:v>
                </c:pt>
                <c:pt idx="7">
                  <c:v>3</c:v>
                </c:pt>
                <c:pt idx="8">
                  <c:v>3</c:v>
                </c:pt>
              </c:numCache>
            </c:numRef>
          </c:val>
          <c:extLst>
            <c:ext xmlns:c16="http://schemas.microsoft.com/office/drawing/2014/chart" uri="{C3380CC4-5D6E-409C-BE32-E72D297353CC}">
              <c16:uniqueId val="{00000000-38BE-463A-860E-502A698A08D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30"/>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5344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Nourhan (A).</a:t>
            </a:r>
          </a:p>
          <a:p>
            <a:r>
              <a:rPr lang="en-US"/>
              <a:t>Good morning. We are team ... : I am Nourhan — gateway, security, product and notification services, Helm, ArgoCD and the load tests. Mohammed built order and inventory, config and Eureka, and the tracing. Doaa built payment, Bonus B2, the Dockerfiles, CI and Kubernetes.</a:t>
            </a:r>
          </a:p>
          <a:p>
            <a:r>
              <a:rPr lang="en-US"/>
              <a:t>Next: who presents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Speaker: Nourhan (A). 20 seconds.</a:t>
            </a:r>
          </a:p>
          <a:p>
            <a:r>
              <a:rPr lang="en-US"/>
              <a:t>Three blocks, one speaker each, then a live demo split the same way. Any of us can answer on any service.</a:t>
            </a:r>
          </a:p>
        </p:txBody>
      </p:sp>
    </p:spTree>
    <p:extLst>
      <p:ext uri="{BB962C8B-B14F-4D97-AF65-F5344CB8AC3E}">
        <p14:creationId xmlns:p14="http://schemas.microsoft.com/office/powerpoint/2010/main" val="3980708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Nourhan (A).</a:t>
            </a:r>
          </a:p>
          <a:p>
            <a:r>
              <a:rPr lang="en-US"/>
              <a:t>9 services behind one secured gateway; 331 automated tests, all green; 39 of 39 live end-to-end checks; POST /orders p95 487 ms against a target of 800.</a:t>
            </a:r>
          </a:p>
          <a:p>
            <a:r>
              <a:rPr lang="en-US"/>
              <a:t>The problem: the labs built the platform one topic at a time; we rebuilt it once, in its final shape.</a:t>
            </a:r>
          </a:p>
          <a:p>
            <a:r>
              <a:rPr lang="en-US"/>
              <a:t>Every number here is reproducible: mvn verify, scripts/e2e-check.sh, k6/load-test.js.</a:t>
            </a:r>
          </a:p>
          <a:p>
            <a:r>
              <a:rPr lang="en-US"/>
              <a:t>Hand over: Mohammed will show how it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Mohammed (B).</a:t>
            </a:r>
          </a:p>
          <a:p>
            <a:r>
              <a:rPr lang="en-US"/>
              <a:t>One entry point, the gateway. Synchronous only where the caller needs the answer: order → inventory stock check and order → product price, both Feign with Resilience4j. Everything else is the Saga over three Kafka topics, each with a dead-letter topic.</a:t>
            </a:r>
          </a:p>
          <a:p>
            <a:r>
              <a:rPr lang="en-US"/>
              <a:t>Review-service (Bonus B1) sits next to product-service and is not drawn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Mohammed (B).</a:t>
            </a:r>
          </a:p>
          <a:p>
            <a:r>
              <a:rPr lang="en-US"/>
              <a:t>Walk the five steps. Key points: the order row and its OrderPlaced event are written in ONE transaction (outbox); every consumer stores the eventId in processed_event in the same transaction, so a redelivered event changes nothing.</a:t>
            </a:r>
          </a:p>
          <a:p>
            <a:r>
              <a:rPr lang="en-US"/>
              <a:t>We would switch to orchestration only if a branching rule appears (fraud check, partial refunds).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Mohammed (B).</a:t>
            </a:r>
          </a:p>
          <a:p>
            <a:r>
              <a:rPr lang="en-US"/>
              <a:t>Pick three: no stock → 409 before any row exists; inventory slow or down → 503 fast (timeout, retry, circuit breaker, bulkhead); payment down → the order stays PENDING and completes when payment returns (NFR-01).</a:t>
            </a:r>
          </a:p>
          <a:p>
            <a:r>
              <a:rPr lang="en-US"/>
              <a:t>A consumer that keeps failing goes to &lt;topic&gt;.DLT with an ALERT log; sweepers release stock of cancelled orders (NFR-05).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Mohammed (B).</a:t>
            </a:r>
          </a:p>
          <a:p>
            <a:r>
              <a:rPr lang="en-US"/>
              <a:t>Read one row as decision → why → trade-off. Stress 'release stock by outcome, not age': releasing by age once oversold an order whose payment was only slow.</a:t>
            </a:r>
          </a:p>
          <a:p>
            <a:r>
              <a:rPr lang="en-US"/>
              <a:t>Hand over: Nourhan,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Nourhan (A).</a:t>
            </a:r>
          </a:p>
          <a:p>
            <a:r>
              <a:rPr lang="en-US"/>
              <a:t>The gateway is the trust boundary: JWT from Keycloak, roles per path, X-User-* headers stripped and rebuilt from the token, 401/403/429 as RFC 7807.</a:t>
            </a:r>
          </a:p>
          <a:p>
            <a:r>
              <a:rPr lang="en-US"/>
              <a:t>Every service validates the JWT again. FR-14: order-service calls inventory with its own client-credentials token; a customer token gets 403.</a:t>
            </a:r>
          </a:p>
          <a:p>
            <a:r>
              <a:rPr lang="en-US"/>
              <a:t>Secrets live only in .env and Kubernetes Secrets; gitleaks runs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Nourhan (A).</a:t>
            </a:r>
          </a:p>
          <a:p>
            <a:r>
              <a:rPr lang="en-US"/>
              <a:t>Measured on the merged branch, i5-1335U laptop, k6 on the same machine (Performance Report 8.2).</a:t>
            </a:r>
          </a:p>
          <a:p>
            <a:r>
              <a:rPr lang="en-US"/>
              <a:t>Met: throughput 59 req/s (target 50) and errors 0.00 % under load, 0.07 % under stress.</a:t>
            </a:r>
          </a:p>
          <a:p>
            <a:r>
              <a:rPr lang="en-US"/>
              <a:t>Not met here: GET /products p95 below 200 ms. Identical runs gave 475 and 932 ms because the Docker VM is 88 % CPU-busy under the mixed load; the catalogue alone gives 74 to 94 ms.</a:t>
            </a:r>
          </a:p>
          <a:p>
            <a:r>
              <a:rPr lang="en-US"/>
              <a:t>How we found the bottleneck: Zipkin showed 700 ms inside the gateway before forwarding; Java Flight Recorder showed threads waiting on SecureRandom. A session-backed request cache created a WebSession on every request.</a:t>
            </a:r>
          </a:p>
          <a:p>
            <a:r>
              <a:rPr lang="en-US"/>
              <a:t>Hand over: Doaa, how we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Doaa (C).</a:t>
            </a:r>
          </a:p>
          <a:p>
            <a:r>
              <a:rPr lang="en-US"/>
              <a:t>331 tests across 10 modules; the chart is per module from mvn verify. The JaCoCo gate fails the build below 60 % on the service layer; order is at 85 %, inventory 78 %.</a:t>
            </a:r>
          </a:p>
          <a:p>
            <a:r>
              <a:rPr lang="en-US"/>
              <a:t>Testcontainers for every database-owning service, embedded Kafka for retry → DLT, WireMock for resilience and FR-14, and 39 of 39 live end-to-end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Doaa (C).</a:t>
            </a:r>
          </a:p>
          <a:p>
            <a:r>
              <a:rPr lang="en-US"/>
              <a:t>Four bugs that only the whole-system run found, although every unit test was green. The first one is the case for a contract test (Pact) as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Doaa (C).</a:t>
            </a:r>
          </a:p>
          <a:p>
            <a:r>
              <a:rPr lang="en-US"/>
              <a:t>Our primary Bonus: a CQRS read model inside order-service with its own consumer group and tables (V50+), so no new deployable. A redelivered event never changes a count. Grafana shows orders per minute, revenue and Saga failure rate.</a:t>
            </a:r>
          </a:p>
          <a:p>
            <a:r>
              <a:rPr lang="en-US"/>
              <a:t>We also built B1 reviews, B3 tenants and B4 low-stock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Doaa (C).</a:t>
            </a:r>
          </a:p>
          <a:p>
            <a:r>
              <a:rPr lang="en-US"/>
              <a:t>Compose: 17 containers, verify-l0.sh checks them. Images: multi-stage, non-root, healthcheck; CI tests, builds and pushes to GHCR with the commit SHA. Helm: one chart for every service. ArgoCD: automated sync with self-heal — a manual change in the cluster is reverted to Git.</a:t>
            </a:r>
          </a:p>
          <a:p>
            <a:r>
              <a:rPr lang="en-US"/>
              <a:t>Hand over: Mohammed,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Mohammed (B).</a:t>
            </a:r>
          </a:p>
          <a:p>
            <a:r>
              <a:rPr lang="en-US"/>
              <a:t>Three lessons: merge small PRs from day one; run the whole system early; a sweeper must use the Saga's outcome, not a timer. Then the debt we left on purpose, and why.</a:t>
            </a:r>
          </a:p>
          <a:p>
            <a:r>
              <a:rPr lang="en-US"/>
              <a:t>Then: let us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three, in this order (commands in README).</a:t>
            </a:r>
          </a:p>
          <a:p>
            <a:r>
              <a:rPr lang="en-US"/>
              <a:t>1. Mohammed: scripts/verify-l0.sh → L0 GREEN; place an order → 201 PENDING → CONFIRMED; open the Zipkin trace of that order.</a:t>
            </a:r>
          </a:p>
          <a:p>
            <a:r>
              <a:rPr lang="en-US"/>
              <a:t>2. Nourhan: public GET 200, no token 401, customer write 403, burst 429; k6 result and the gateway fix.</a:t>
            </a:r>
          </a:p>
          <a:p>
            <a:r>
              <a:rPr lang="en-US"/>
              <a:t>3. Doaa: PAYMENT_FAILURE_RATE=1.0 → order CANCELLED and stock back; stop payment-service → order stays PENDING, start it → CONFIRMED; ArgoCD self-heal; Grafana Order Analytics.</a:t>
            </a:r>
          </a:p>
          <a:p>
            <a:r>
              <a:rPr lang="en-US"/>
              <a:t>Close: questions — any of us on any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280160"/>
          </a:xfrm>
          <a:prstGeom prst="rect">
            <a:avLst/>
          </a:prstGeom>
          <a:noFill/>
          <a:ln/>
        </p:spPr>
        <p:txBody>
          <a:bodyPr wrap="square" rtlCol="0"/>
          <a:lstStyle>
            <a:lvl1pPr marL="0" indent="0">
              <a:buNone/>
              <a:defRPr lang="en-US" sz="4400" b="1" dirty="0">
                <a:solidFill>
                  <a:schemeClr val="bg1"/>
                </a:solidFill>
              </a:defRPr>
            </a:lvl1pPr>
          </a:lstStyle>
          <a:p>
            <a:pPr marL="0" indent="0">
              <a:buNone/>
            </a:pPr>
            <a:endParaRPr lang="en-US" sz="4400" dirty="0"/>
          </a:p>
        </p:txBody>
      </p:sp>
      <p:sp>
        <p:nvSpPr>
          <p:cNvPr id="3" name="Text 0"/>
          <p:cNvSpPr>
            <a:spLocks noGrp="1"/>
          </p:cNvSpPr>
          <p:nvPr>
            <p:ph type="body" idx="101" hasCustomPrompt="1"/>
          </p:nvPr>
        </p:nvSpPr>
        <p:spPr>
          <a:xfrm>
            <a:off x="731520" y="3520440"/>
            <a:ext cx="10698480" cy="1097280"/>
          </a:xfrm>
          <a:prstGeom prst="rect">
            <a:avLst/>
          </a:prstGeom>
          <a:noFill/>
          <a:ln/>
        </p:spPr>
        <p:txBody>
          <a:bodyPr wrap="square" rtlCol="0"/>
          <a:lstStyle>
            <a:lvl1pPr marL="0" indent="0">
              <a:buNone/>
              <a:defRPr lang="en-US" sz="2000" dirty="0">
                <a:solidFill>
                  <a:schemeClr val="bg2"/>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lstStyle>
            <a:lvl1pPr marL="0" indent="0">
              <a:buNone/>
              <a:defRPr lang="en-US" sz="3200" b="1" dirty="0">
                <a:solidFill>
                  <a:schemeClr val="tx2"/>
                </a:solidFill>
              </a:defRPr>
            </a:lvl1pPr>
          </a:lstStyle>
          <a:p>
            <a:pPr marL="0" indent="0">
              <a:buNone/>
            </a:pPr>
            <a:endParaRPr lang="en-US" sz="3200" dirty="0"/>
          </a:p>
        </p:txBody>
      </p:sp>
      <p:sp>
        <p:nvSpPr>
          <p:cNvPr id="3" name="Text 0"/>
          <p:cNvSpPr/>
          <p:nvPr/>
        </p:nvSpPr>
        <p:spPr>
          <a:xfrm>
            <a:off x="548640" y="6400800"/>
            <a:ext cx="7315200" cy="274320"/>
          </a:xfrm>
          <a:prstGeom prst="rect">
            <a:avLst/>
          </a:prstGeom>
          <a:noFill/>
          <a:ln/>
        </p:spPr>
        <p:txBody>
          <a:bodyPr wrap="square" rtlCol="0" anchor="ctr"/>
          <a:lstStyle/>
          <a:p>
            <a:pPr marL="0" indent="0">
              <a:buNone/>
            </a:pPr>
            <a:r>
              <a:rPr lang="en-US" sz="1000" dirty="0">
                <a:solidFill>
                  <a:schemeClr val="accent4"/>
                </a:solidFill>
              </a:rPr>
              <a:t>Enterprise E-Commerce Platform · Capstone</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280160"/>
          </a:xfrm>
          <a:prstGeom prst="rect">
            <a:avLst/>
          </a:prstGeom>
          <a:noFill/>
          <a:ln/>
        </p:spPr>
        <p:txBody>
          <a:bodyPr wrap="square" rtlCol="0" anchor="b"/>
          <a:lstStyle/>
          <a:p>
            <a:pPr marL="0" indent="0">
              <a:buNone/>
            </a:pPr>
            <a:r>
              <a:rPr lang="en-US" sz="4400" b="1" dirty="0">
                <a:solidFill>
                  <a:schemeClr val="bg1"/>
                </a:solidFill>
              </a:rPr>
              <a:t>Enterprise E-Commerce Platform</a:t>
            </a:r>
            <a:endParaRPr lang="en-US" sz="4400" dirty="0"/>
          </a:p>
        </p:txBody>
      </p:sp>
      <p:sp>
        <p:nvSpPr>
          <p:cNvPr id="3" name="Text 0"/>
          <p:cNvSpPr>
            <a:spLocks noGrp="1"/>
          </p:cNvSpPr>
          <p:nvPr>
            <p:ph type="body" idx="101" hasCustomPrompt="1"/>
          </p:nvPr>
        </p:nvSpPr>
        <p:spPr>
          <a:xfrm>
            <a:off x="731520" y="3520440"/>
            <a:ext cx="10698480" cy="1097280"/>
          </a:xfrm>
          <a:prstGeom prst="rect">
            <a:avLst/>
          </a:prstGeom>
          <a:noFill/>
          <a:ln/>
        </p:spPr>
        <p:txBody>
          <a:bodyPr wrap="square" rtlCol="0" anchor="t"/>
          <a:lstStyle/>
          <a:p>
            <a:pPr marL="0" indent="0">
              <a:buNone/>
            </a:pPr>
            <a:r>
              <a:rPr lang="en-US" sz="2000" dirty="0">
                <a:solidFill>
                  <a:schemeClr val="bg2"/>
                </a:solidFill>
              </a:rPr>
              <a:t>Capstone · Microservices with Spring Boot &amp; Spring Cloud</a:t>
            </a:r>
            <a:endParaRPr lang="en-US" sz="2000" dirty="0"/>
          </a:p>
          <a:p>
            <a:pPr marL="0" indent="0">
              <a:buNone/>
            </a:pPr>
            <a:r>
              <a:rPr lang="en-US" sz="1600" dirty="0">
                <a:solidFill>
                  <a:schemeClr val="accent5"/>
                </a:solidFill>
              </a:rPr>
              <a:t>Nourhan Fahmy (A) · Mohammed Selim (B) · Doaa Amr (C) — Trainer: Dr. ElSayed Baladoh</a:t>
            </a:r>
            <a:endParaRPr lang="en-US" sz="2000" dirty="0"/>
          </a:p>
        </p:txBody>
      </p:sp>
      <p:sp>
        <p:nvSpPr>
          <p:cNvPr id="4" name="Presenter tag">
            <a:extLst>
              <a:ext uri="{FF2B5EF4-FFF2-40B4-BE49-F238E27FC236}">
                <a16:creationId xmlns:a16="http://schemas.microsoft.com/office/drawing/2014/main" id="{64B66A4D-778A-49BA-A8C8-B0DD3478912F}"/>
              </a:ext>
            </a:extLst>
          </p:cNvPr>
          <p:cNvSpPr/>
          <p:nvPr/>
        </p:nvSpPr>
        <p:spPr>
          <a:xfrm>
            <a:off x="8585200" y="6375400"/>
            <a:ext cx="2413000" cy="304800"/>
          </a:xfrm>
          <a:prstGeom prst="roundRect">
            <a:avLst/>
          </a:prstGeom>
          <a:solidFill>
            <a:srgbClr val="2A9D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n-US" sz="1100" b="1">
                <a:solidFill>
                  <a:srgbClr val="FFFFFF"/>
                </a:solidFill>
                <a:latin typeface="Calibri" panose="020F0502020204030204" pitchFamily="34" charset="0"/>
              </a:rPr>
              <a:t>Presenter: Nourhan (A)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buNone/>
            </a:pPr>
            <a:r>
              <a:rPr lang="en-US" sz="3200" b="1">
                <a:solidFill>
                  <a:schemeClr val="tx2"/>
                </a:solidFill>
              </a:rPr>
              <a:t>Who presents what</a:t>
            </a:r>
            <a:endParaRPr lang="en-US" sz="3200" dirty="0"/>
          </a:p>
        </p:txBody>
      </p:sp>
      <p:sp>
        <p:nvSpPr>
          <p:cNvPr id="3" name="Shape 1"/>
          <p:cNvSpPr/>
          <p:nvPr/>
        </p:nvSpPr>
        <p:spPr>
          <a:xfrm>
            <a:off x="548640" y="1554480"/>
            <a:ext cx="2606040" cy="2377440"/>
          </a:xfrm>
          <a:prstGeom prst="roundRect">
            <a:avLst>
              <a:gd name="adj" fmla="val 3077"/>
            </a:avLst>
          </a:prstGeom>
          <a:solidFill>
            <a:schemeClr val="bg2"/>
          </a:solidFill>
          <a:ln w="12700">
            <a:solidFill>
              <a:schemeClr val="bg2"/>
            </a:solidFill>
            <a:prstDash val="solid"/>
          </a:ln>
        </p:spPr>
      </p:sp>
      <p:sp>
        <p:nvSpPr>
          <p:cNvPr id="4" name="Text 2"/>
          <p:cNvSpPr txBox="1"/>
          <p:nvPr/>
        </p:nvSpPr>
        <p:spPr>
          <a:xfrm>
            <a:off x="777240" y="1828800"/>
            <a:ext cx="2194560" cy="1005840"/>
          </a:xfrm>
          <a:prstGeom prst="rect">
            <a:avLst/>
          </a:prstGeom>
          <a:noFill/>
          <a:ln/>
        </p:spPr>
        <p:txBody>
          <a:bodyPr wrap="square" lIns="0" tIns="0" rIns="0" bIns="0" rtlCol="0" anchor="t"/>
          <a:lstStyle/>
          <a:p>
            <a:pPr marL="0" indent="0">
              <a:buNone/>
            </a:pPr>
            <a:r>
              <a:rPr lang="en-US" sz="3000" b="1">
                <a:solidFill>
                  <a:srgbClr val="2A9D8F"/>
                </a:solidFill>
                <a:latin typeface="Cambria" pitchFamily="34" charset="0"/>
                <a:ea typeface="Cambria" pitchFamily="34" charset="-122"/>
                <a:cs typeface="Cambria" pitchFamily="34" charset="-120"/>
              </a:rPr>
              <a:t>Nourhan</a:t>
            </a:r>
            <a:endParaRPr lang="en-US" sz="3000" dirty="0">
              <a:solidFill>
                <a:srgbClr val="2A9D8F"/>
              </a:solidFill>
            </a:endParaRPr>
          </a:p>
        </p:txBody>
      </p:sp>
      <p:sp>
        <p:nvSpPr>
          <p:cNvPr id="5" name="Text 3"/>
          <p:cNvSpPr txBox="1"/>
          <p:nvPr/>
        </p:nvSpPr>
        <p:spPr>
          <a:xfrm>
            <a:off x="777240" y="2540000"/>
            <a:ext cx="2194560" cy="1270000"/>
          </a:xfrm>
          <a:prstGeom prst="rect">
            <a:avLst/>
          </a:prstGeom>
          <a:noFill/>
          <a:ln/>
        </p:spPr>
        <p:txBody>
          <a:bodyPr wrap="square" lIns="0" tIns="0" rIns="0" bIns="0" rtlCol="0" anchor="t"/>
          <a:lstStyle/>
          <a:p>
            <a:pPr marL="0" indent="0">
              <a:buNone/>
            </a:pPr>
            <a:r>
              <a:rPr lang="en-US" sz="1200" b="1">
                <a:solidFill>
                  <a:schemeClr val="tx1"/>
                </a:solidFill>
              </a:rPr>
              <a:t>Slides 1–3, 8–9</a:t>
            </a:r>
          </a:p>
          <a:p>
            <a:pPr marL="0" indent="0">
              <a:buNone/>
            </a:pPr>
            <a:r>
              <a:rPr lang="en-US" sz="1200">
                <a:solidFill>
                  <a:schemeClr val="tx1"/>
                </a:solidFill>
              </a:rPr>
              <a:t>Intro · security · performance</a:t>
            </a:r>
          </a:p>
          <a:p>
            <a:pPr marL="0" indent="0">
              <a:buNone/>
            </a:pPr>
            <a:r>
              <a:rPr lang="en-US" sz="1200">
                <a:solidFill>
                  <a:schemeClr val="tx1"/>
                </a:solidFill>
              </a:rPr>
              <a:t>Demo: 401 / 403 / 429, k6</a:t>
            </a:r>
            <a:endParaRPr lang="en-US" sz="1200" dirty="0"/>
          </a:p>
        </p:txBody>
      </p:sp>
      <p:sp>
        <p:nvSpPr>
          <p:cNvPr id="6" name="Shape 4"/>
          <p:cNvSpPr/>
          <p:nvPr/>
        </p:nvSpPr>
        <p:spPr>
          <a:xfrm>
            <a:off x="3383280" y="1554480"/>
            <a:ext cx="2606040" cy="2377440"/>
          </a:xfrm>
          <a:prstGeom prst="roundRect">
            <a:avLst>
              <a:gd name="adj" fmla="val 3077"/>
            </a:avLst>
          </a:prstGeom>
          <a:solidFill>
            <a:schemeClr val="bg2"/>
          </a:solidFill>
          <a:ln w="12700">
            <a:solidFill>
              <a:schemeClr val="bg2"/>
            </a:solidFill>
            <a:prstDash val="solid"/>
          </a:ln>
        </p:spPr>
      </p:sp>
      <p:sp>
        <p:nvSpPr>
          <p:cNvPr id="7" name="Text 5"/>
          <p:cNvSpPr txBox="1"/>
          <p:nvPr/>
        </p:nvSpPr>
        <p:spPr>
          <a:xfrm>
            <a:off x="3611880" y="1828800"/>
            <a:ext cx="2194560" cy="1005840"/>
          </a:xfrm>
          <a:prstGeom prst="rect">
            <a:avLst/>
          </a:prstGeom>
          <a:noFill/>
          <a:ln/>
        </p:spPr>
        <p:txBody>
          <a:bodyPr wrap="square" lIns="0" tIns="0" rIns="0" bIns="0" rtlCol="0" anchor="t"/>
          <a:lstStyle/>
          <a:p>
            <a:pPr marL="0" indent="0">
              <a:buNone/>
            </a:pPr>
            <a:r>
              <a:rPr lang="en-US" sz="3000" b="1">
                <a:solidFill>
                  <a:srgbClr val="C77D12"/>
                </a:solidFill>
                <a:latin typeface="Cambria" pitchFamily="34" charset="0"/>
                <a:ea typeface="Cambria" pitchFamily="34" charset="-122"/>
                <a:cs typeface="Cambria" pitchFamily="34" charset="-120"/>
              </a:rPr>
              <a:t>Mohammed</a:t>
            </a:r>
            <a:endParaRPr lang="en-US" sz="3000" dirty="0">
              <a:solidFill>
                <a:srgbClr val="C77D12"/>
              </a:solidFill>
            </a:endParaRPr>
          </a:p>
        </p:txBody>
      </p:sp>
      <p:sp>
        <p:nvSpPr>
          <p:cNvPr id="8" name="Text 6"/>
          <p:cNvSpPr txBox="1"/>
          <p:nvPr/>
        </p:nvSpPr>
        <p:spPr>
          <a:xfrm>
            <a:off x="3611880" y="2540000"/>
            <a:ext cx="2194560" cy="1270000"/>
          </a:xfrm>
          <a:prstGeom prst="rect">
            <a:avLst/>
          </a:prstGeom>
          <a:noFill/>
          <a:ln/>
        </p:spPr>
        <p:txBody>
          <a:bodyPr wrap="square" lIns="0" tIns="0" rIns="0" bIns="0" rtlCol="0" anchor="t"/>
          <a:lstStyle/>
          <a:p>
            <a:pPr marL="0" indent="0">
              <a:buNone/>
            </a:pPr>
            <a:r>
              <a:rPr lang="en-US" sz="1200" b="1">
                <a:solidFill>
                  <a:schemeClr val="tx1"/>
                </a:solidFill>
              </a:rPr>
              <a:t>Slides 4–7, 14</a:t>
            </a:r>
          </a:p>
          <a:p>
            <a:pPr marL="0" indent="0">
              <a:buNone/>
            </a:pPr>
            <a:r>
              <a:rPr lang="en-US" sz="1200">
                <a:solidFill>
                  <a:schemeClr val="tx1"/>
                </a:solidFill>
              </a:rPr>
              <a:t>Architecture · Saga · failures · decisions · lessons</a:t>
            </a:r>
          </a:p>
          <a:p>
            <a:pPr marL="0" indent="0">
              <a:buNone/>
            </a:pPr>
            <a:r>
              <a:rPr lang="en-US" sz="1200">
                <a:solidFill>
                  <a:schemeClr val="tx1"/>
                </a:solidFill>
              </a:rPr>
              <a:t>Demo: L0, order, one trace</a:t>
            </a:r>
            <a:endParaRPr lang="en-US" sz="1200" dirty="0"/>
          </a:p>
        </p:txBody>
      </p:sp>
      <p:sp>
        <p:nvSpPr>
          <p:cNvPr id="9" name="Shape 7"/>
          <p:cNvSpPr/>
          <p:nvPr/>
        </p:nvSpPr>
        <p:spPr>
          <a:xfrm>
            <a:off x="6217920" y="1554480"/>
            <a:ext cx="2606040" cy="2377440"/>
          </a:xfrm>
          <a:prstGeom prst="roundRect">
            <a:avLst>
              <a:gd name="adj" fmla="val 3077"/>
            </a:avLst>
          </a:prstGeom>
          <a:solidFill>
            <a:schemeClr val="bg2"/>
          </a:solidFill>
          <a:ln w="12700">
            <a:solidFill>
              <a:schemeClr val="bg2"/>
            </a:solidFill>
            <a:prstDash val="solid"/>
          </a:ln>
        </p:spPr>
      </p:sp>
      <p:sp>
        <p:nvSpPr>
          <p:cNvPr id="10" name="Text 8"/>
          <p:cNvSpPr txBox="1"/>
          <p:nvPr/>
        </p:nvSpPr>
        <p:spPr>
          <a:xfrm>
            <a:off x="6446520" y="1828800"/>
            <a:ext cx="2194560" cy="1005840"/>
          </a:xfrm>
          <a:prstGeom prst="rect">
            <a:avLst/>
          </a:prstGeom>
          <a:noFill/>
          <a:ln/>
        </p:spPr>
        <p:txBody>
          <a:bodyPr wrap="square" lIns="0" tIns="0" rIns="0" bIns="0" rtlCol="0" anchor="t"/>
          <a:lstStyle/>
          <a:p>
            <a:pPr marL="0" indent="0">
              <a:buNone/>
            </a:pPr>
            <a:r>
              <a:rPr lang="en-US" sz="3000" b="1">
                <a:solidFill>
                  <a:srgbClr val="0D3B4A"/>
                </a:solidFill>
                <a:latin typeface="Cambria" pitchFamily="34" charset="0"/>
                <a:ea typeface="Cambria" pitchFamily="34" charset="-122"/>
                <a:cs typeface="Cambria" pitchFamily="34" charset="-120"/>
              </a:rPr>
              <a:t>Doaa</a:t>
            </a:r>
            <a:endParaRPr lang="en-US" sz="3000" dirty="0">
              <a:solidFill>
                <a:srgbClr val="0D3B4A"/>
              </a:solidFill>
            </a:endParaRPr>
          </a:p>
        </p:txBody>
      </p:sp>
      <p:sp>
        <p:nvSpPr>
          <p:cNvPr id="11" name="Text 9"/>
          <p:cNvSpPr txBox="1"/>
          <p:nvPr/>
        </p:nvSpPr>
        <p:spPr>
          <a:xfrm>
            <a:off x="6446520" y="2540000"/>
            <a:ext cx="2194560" cy="1270000"/>
          </a:xfrm>
          <a:prstGeom prst="rect">
            <a:avLst/>
          </a:prstGeom>
          <a:noFill/>
          <a:ln/>
        </p:spPr>
        <p:txBody>
          <a:bodyPr wrap="square" lIns="0" tIns="0" rIns="0" bIns="0" rtlCol="0" anchor="t"/>
          <a:lstStyle/>
          <a:p>
            <a:pPr marL="0" indent="0">
              <a:buNone/>
            </a:pPr>
            <a:r>
              <a:rPr lang="en-US" sz="1200" b="1">
                <a:solidFill>
                  <a:schemeClr val="tx1"/>
                </a:solidFill>
              </a:rPr>
              <a:t>Slides 10–13</a:t>
            </a:r>
          </a:p>
          <a:p>
            <a:pPr marL="0" indent="0">
              <a:buNone/>
            </a:pPr>
            <a:r>
              <a:rPr lang="en-US" sz="1200">
                <a:solidFill>
                  <a:schemeClr val="tx1"/>
                </a:solidFill>
              </a:rPr>
              <a:t>Tests · what testing caught · Bonus B2 · cluster</a:t>
            </a:r>
          </a:p>
          <a:p>
            <a:pPr marL="0" indent="0">
              <a:buNone/>
            </a:pPr>
            <a:r>
              <a:rPr lang="en-US" sz="1200">
                <a:solidFill>
                  <a:schemeClr val="tx1"/>
                </a:solidFill>
              </a:rPr>
              <a:t>Demo: compensation, payment down, ArgoCD, B2</a:t>
            </a:r>
            <a:endParaRPr lang="en-US" sz="1200" dirty="0"/>
          </a:p>
        </p:txBody>
      </p:sp>
      <p:sp>
        <p:nvSpPr>
          <p:cNvPr id="12" name="Shape 10"/>
          <p:cNvSpPr/>
          <p:nvPr/>
        </p:nvSpPr>
        <p:spPr>
          <a:xfrm>
            <a:off x="9052560" y="1554480"/>
            <a:ext cx="2606040" cy="2377440"/>
          </a:xfrm>
          <a:prstGeom prst="roundRect">
            <a:avLst>
              <a:gd name="adj" fmla="val 3077"/>
            </a:avLst>
          </a:prstGeom>
          <a:solidFill>
            <a:schemeClr val="bg2"/>
          </a:solidFill>
          <a:ln w="12700">
            <a:solidFill>
              <a:schemeClr val="bg2"/>
            </a:solidFill>
            <a:prstDash val="solid"/>
          </a:ln>
        </p:spPr>
      </p:sp>
      <p:sp>
        <p:nvSpPr>
          <p:cNvPr id="13" name="Text 11"/>
          <p:cNvSpPr txBox="1"/>
          <p:nvPr/>
        </p:nvSpPr>
        <p:spPr>
          <a:xfrm>
            <a:off x="9281160" y="1828800"/>
            <a:ext cx="2194560" cy="1005840"/>
          </a:xfrm>
          <a:prstGeom prst="rect">
            <a:avLst/>
          </a:prstGeom>
          <a:noFill/>
          <a:ln/>
        </p:spPr>
        <p:txBody>
          <a:bodyPr wrap="square" lIns="0" tIns="0" rIns="0" bIns="0" rtlCol="0" anchor="t"/>
          <a:lstStyle/>
          <a:p>
            <a:pPr marL="0" indent="0">
              <a:buNone/>
            </a:pPr>
            <a:r>
              <a:rPr lang="en-US" sz="3000" b="1">
                <a:solidFill>
                  <a:schemeClr val="tx2"/>
                </a:solidFill>
                <a:latin typeface="Cambria" pitchFamily="34" charset="0"/>
                <a:ea typeface="Cambria" pitchFamily="34" charset="-122"/>
                <a:cs typeface="Cambria" pitchFamily="34" charset="-120"/>
              </a:rPr>
              <a:t>All three</a:t>
            </a:r>
            <a:endParaRPr lang="en-US" sz="3000" dirty="0"/>
          </a:p>
        </p:txBody>
      </p:sp>
      <p:sp>
        <p:nvSpPr>
          <p:cNvPr id="14" name="Text 12"/>
          <p:cNvSpPr txBox="1"/>
          <p:nvPr/>
        </p:nvSpPr>
        <p:spPr>
          <a:xfrm>
            <a:off x="9281160" y="2540000"/>
            <a:ext cx="2194560" cy="1270000"/>
          </a:xfrm>
          <a:prstGeom prst="rect">
            <a:avLst/>
          </a:prstGeom>
          <a:noFill/>
          <a:ln/>
        </p:spPr>
        <p:txBody>
          <a:bodyPr wrap="square" lIns="0" tIns="0" rIns="0" bIns="0" rtlCol="0" anchor="t"/>
          <a:lstStyle/>
          <a:p>
            <a:pPr marL="0" indent="0">
              <a:buNone/>
            </a:pPr>
            <a:r>
              <a:rPr lang="en-US" sz="1200" b="1">
                <a:solidFill>
                  <a:schemeClr val="tx1"/>
                </a:solidFill>
              </a:rPr>
              <a:t>Slide 15</a:t>
            </a:r>
          </a:p>
          <a:p>
            <a:pPr marL="0" indent="0">
              <a:buNone/>
            </a:pPr>
            <a:r>
              <a:rPr lang="en-US" sz="1200">
                <a:solidFill>
                  <a:schemeClr val="tx1"/>
                </a:solidFill>
              </a:rPr>
              <a:t>Live demo in three parts, then questions</a:t>
            </a:r>
            <a:endParaRPr lang="en-US" sz="1200" dirty="0"/>
          </a:p>
        </p:txBody>
      </p:sp>
      <p:sp>
        <p:nvSpPr>
          <p:cNvPr id="15" name="Text 13"/>
          <p:cNvSpPr txBox="1"/>
          <p:nvPr/>
        </p:nvSpPr>
        <p:spPr>
          <a:xfrm>
            <a:off x="548640" y="4343400"/>
            <a:ext cx="11064240" cy="1097280"/>
          </a:xfrm>
          <a:prstGeom prst="rect">
            <a:avLst/>
          </a:prstGeom>
          <a:noFill/>
          <a:ln/>
        </p:spPr>
        <p:txBody>
          <a:bodyPr wrap="square" lIns="0" tIns="0" rIns="0" bIns="0" rtlCol="0" anchor="t"/>
          <a:lstStyle/>
          <a:p>
            <a:pPr marL="0" indent="0">
              <a:buNone/>
            </a:pPr>
            <a:r>
              <a:rPr lang="en-US" sz="1600">
                <a:solidFill>
                  <a:schemeClr val="tx2"/>
                </a:solidFill>
              </a:rPr>
              <a:t>Each block is one speaker, so there are only three handovers. The demo follows the same split: Mohammed brings the platform up and places an order, Nourhan shows security and load, Doaa breaks payment and shows the deployment and Bonus B2.</a:t>
            </a:r>
            <a:endParaRPr lang="en-US" sz="1600" dirty="0"/>
          </a:p>
        </p:txBody>
      </p:sp>
      <p:sp>
        <p:nvSpPr>
          <p:cNvPr id="16" name="Text 14"/>
          <p:cNvSpPr txBox="1"/>
          <p:nvPr/>
        </p:nvSpPr>
        <p:spPr>
          <a:xfrm>
            <a:off x="548640" y="5532120"/>
            <a:ext cx="11064240" cy="457200"/>
          </a:xfrm>
          <a:prstGeom prst="rect">
            <a:avLst/>
          </a:prstGeom>
          <a:noFill/>
          <a:ln/>
        </p:spPr>
        <p:txBody>
          <a:bodyPr wrap="square" lIns="0" tIns="0" rIns="0" bIns="0" rtlCol="0" anchor="t"/>
          <a:lstStyle/>
          <a:p>
            <a:pPr marL="0" indent="0">
              <a:buNone/>
            </a:pPr>
            <a:r>
              <a:rPr lang="en-US" sz="1400" i="1">
                <a:solidFill>
                  <a:schemeClr val="accent4"/>
                </a:solidFill>
              </a:rPr>
              <a:t>Every one of us answers questions on every service — not only the ones we built (Brief 12).</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
        <p:nvSpPr>
          <p:cNvPr id="17" name="Presenter tag">
            <a:extLst>
              <a:ext uri="{FF2B5EF4-FFF2-40B4-BE49-F238E27FC236}">
                <a16:creationId xmlns:a16="http://schemas.microsoft.com/office/drawing/2014/main" id="{1E1BF787-02D9-4240-9302-15424C449F76}"/>
              </a:ext>
            </a:extLst>
          </p:cNvPr>
          <p:cNvSpPr/>
          <p:nvPr/>
        </p:nvSpPr>
        <p:spPr>
          <a:xfrm>
            <a:off x="8585200" y="6375400"/>
            <a:ext cx="2413000" cy="304800"/>
          </a:xfrm>
          <a:prstGeom prst="roundRect">
            <a:avLst/>
          </a:prstGeom>
          <a:solidFill>
            <a:srgbClr val="2A9D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n-US" sz="1100" b="1">
                <a:solidFill>
                  <a:srgbClr val="FFFFFF"/>
                </a:solidFill>
                <a:latin typeface="Calibri" panose="020F0502020204030204" pitchFamily="34" charset="0"/>
              </a:rPr>
              <a:t>Presenter: Nourhan (A)</a:t>
            </a:r>
          </a:p>
        </p:txBody>
      </p:sp>
    </p:spTree>
    <p:extLst>
      <p:ext uri="{BB962C8B-B14F-4D97-AF65-F5344CB8AC3E}">
        <p14:creationId xmlns:p14="http://schemas.microsoft.com/office/powerpoint/2010/main" val="1470196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buNone/>
            </a:pPr>
            <a:r>
              <a:rPr lang="en-US" sz="3200" b="1" dirty="0">
                <a:solidFill>
                  <a:schemeClr val="tx2"/>
                </a:solidFill>
              </a:rPr>
              <a:t>What we delivered, in four numbers</a:t>
            </a:r>
            <a:endParaRPr lang="en-US" sz="3200" dirty="0"/>
          </a:p>
        </p:txBody>
      </p:sp>
      <p:sp>
        <p:nvSpPr>
          <p:cNvPr id="3" name="Shape 1"/>
          <p:cNvSpPr/>
          <p:nvPr/>
        </p:nvSpPr>
        <p:spPr>
          <a:xfrm>
            <a:off x="548640" y="1554480"/>
            <a:ext cx="2606040" cy="2377440"/>
          </a:xfrm>
          <a:prstGeom prst="roundRect">
            <a:avLst>
              <a:gd name="adj" fmla="val 3077"/>
            </a:avLst>
          </a:prstGeom>
          <a:solidFill>
            <a:schemeClr val="bg2"/>
          </a:solidFill>
          <a:ln w="12700">
            <a:solidFill>
              <a:schemeClr val="bg2"/>
            </a:solidFill>
            <a:prstDash val="solid"/>
          </a:ln>
        </p:spPr>
      </p:sp>
      <p:sp>
        <p:nvSpPr>
          <p:cNvPr id="4" name="Text 2"/>
          <p:cNvSpPr txBox="1"/>
          <p:nvPr/>
        </p:nvSpPr>
        <p:spPr>
          <a:xfrm>
            <a:off x="777240" y="1828800"/>
            <a:ext cx="2194560" cy="1005840"/>
          </a:xfrm>
          <a:prstGeom prst="rect">
            <a:avLst/>
          </a:prstGeom>
          <a:noFill/>
          <a:ln/>
        </p:spPr>
        <p:txBody>
          <a:bodyPr wrap="square" lIns="0" tIns="0" rIns="0" bIns="0" rtlCol="0" anchor="t"/>
          <a:lstStyle/>
          <a:p>
            <a:pPr marL="0" indent="0">
              <a:buNone/>
            </a:pPr>
            <a:r>
              <a:rPr lang="en-US" sz="4800" b="1" dirty="0">
                <a:solidFill>
                  <a:schemeClr val="tx2"/>
                </a:solidFill>
                <a:latin typeface="Cambria" pitchFamily="34" charset="0"/>
                <a:ea typeface="Cambria" pitchFamily="34" charset="-122"/>
                <a:cs typeface="Cambria" pitchFamily="34" charset="-120"/>
              </a:rPr>
              <a:t>9</a:t>
            </a:r>
            <a:endParaRPr lang="en-US" sz="4800" dirty="0"/>
          </a:p>
        </p:txBody>
      </p:sp>
      <p:sp>
        <p:nvSpPr>
          <p:cNvPr id="5" name="Text 3"/>
          <p:cNvSpPr txBox="1"/>
          <p:nvPr/>
        </p:nvSpPr>
        <p:spPr>
          <a:xfrm>
            <a:off x="777240" y="2880360"/>
            <a:ext cx="2194560" cy="822960"/>
          </a:xfrm>
          <a:prstGeom prst="rect">
            <a:avLst/>
          </a:prstGeom>
          <a:noFill/>
          <a:ln/>
        </p:spPr>
        <p:txBody>
          <a:bodyPr wrap="square" lIns="0" tIns="0" rIns="0" bIns="0" rtlCol="0" anchor="t"/>
          <a:lstStyle/>
          <a:p>
            <a:pPr marL="0" indent="0">
              <a:buNone/>
            </a:pPr>
            <a:r>
              <a:rPr lang="en-US" sz="1500" dirty="0">
                <a:solidFill>
                  <a:schemeClr val="tx1"/>
                </a:solidFill>
              </a:rPr>
              <a:t>services behind one secured gateway</a:t>
            </a:r>
            <a:endParaRPr lang="en-US" sz="1500" dirty="0"/>
          </a:p>
        </p:txBody>
      </p:sp>
      <p:sp>
        <p:nvSpPr>
          <p:cNvPr id="6" name="Shape 4"/>
          <p:cNvSpPr/>
          <p:nvPr/>
        </p:nvSpPr>
        <p:spPr>
          <a:xfrm>
            <a:off x="3383280" y="1554480"/>
            <a:ext cx="2606040" cy="2377440"/>
          </a:xfrm>
          <a:prstGeom prst="roundRect">
            <a:avLst>
              <a:gd name="adj" fmla="val 3077"/>
            </a:avLst>
          </a:prstGeom>
          <a:solidFill>
            <a:schemeClr val="bg2"/>
          </a:solidFill>
          <a:ln w="12700">
            <a:solidFill>
              <a:schemeClr val="bg2"/>
            </a:solidFill>
            <a:prstDash val="solid"/>
          </a:ln>
        </p:spPr>
      </p:sp>
      <p:sp>
        <p:nvSpPr>
          <p:cNvPr id="7" name="Text 5"/>
          <p:cNvSpPr txBox="1"/>
          <p:nvPr/>
        </p:nvSpPr>
        <p:spPr>
          <a:xfrm>
            <a:off x="3611880" y="1828800"/>
            <a:ext cx="2194560" cy="1005840"/>
          </a:xfrm>
          <a:prstGeom prst="rect">
            <a:avLst/>
          </a:prstGeom>
          <a:noFill/>
          <a:ln/>
        </p:spPr>
        <p:txBody>
          <a:bodyPr wrap="square" lIns="0" tIns="0" rIns="0" bIns="0" rtlCol="0" anchor="t"/>
          <a:lstStyle/>
          <a:p>
            <a:pPr marL="0" indent="0">
              <a:buNone/>
            </a:pPr>
            <a:r>
              <a:rPr lang="en-US" sz="4800" b="1" dirty="0">
                <a:solidFill>
                  <a:schemeClr val="tx2"/>
                </a:solidFill>
                <a:latin typeface="Cambria" pitchFamily="34" charset="0"/>
                <a:ea typeface="Cambria" pitchFamily="34" charset="-122"/>
                <a:cs typeface="Cambria" pitchFamily="34" charset="-120"/>
              </a:rPr>
              <a:t>331</a:t>
            </a:r>
            <a:endParaRPr lang="en-US" sz="4800" dirty="0"/>
          </a:p>
        </p:txBody>
      </p:sp>
      <p:sp>
        <p:nvSpPr>
          <p:cNvPr id="8" name="Text 6"/>
          <p:cNvSpPr txBox="1"/>
          <p:nvPr/>
        </p:nvSpPr>
        <p:spPr>
          <a:xfrm>
            <a:off x="3611880" y="2880360"/>
            <a:ext cx="2194560" cy="822960"/>
          </a:xfrm>
          <a:prstGeom prst="rect">
            <a:avLst/>
          </a:prstGeom>
          <a:noFill/>
          <a:ln/>
        </p:spPr>
        <p:txBody>
          <a:bodyPr wrap="square" lIns="0" tIns="0" rIns="0" bIns="0" rtlCol="0" anchor="t"/>
          <a:lstStyle/>
          <a:p>
            <a:pPr marL="0" indent="0">
              <a:buNone/>
            </a:pPr>
            <a:r>
              <a:rPr lang="en-US" sz="1500" dirty="0">
                <a:solidFill>
                  <a:schemeClr val="tx1"/>
                </a:solidFill>
              </a:rPr>
              <a:t>automated tests, all green</a:t>
            </a:r>
            <a:endParaRPr lang="en-US" sz="1500" dirty="0"/>
          </a:p>
        </p:txBody>
      </p:sp>
      <p:sp>
        <p:nvSpPr>
          <p:cNvPr id="9" name="Shape 7"/>
          <p:cNvSpPr/>
          <p:nvPr/>
        </p:nvSpPr>
        <p:spPr>
          <a:xfrm>
            <a:off x="6217920" y="1554480"/>
            <a:ext cx="2606040" cy="2377440"/>
          </a:xfrm>
          <a:prstGeom prst="roundRect">
            <a:avLst>
              <a:gd name="adj" fmla="val 3077"/>
            </a:avLst>
          </a:prstGeom>
          <a:solidFill>
            <a:schemeClr val="bg2"/>
          </a:solidFill>
          <a:ln w="12700">
            <a:solidFill>
              <a:schemeClr val="bg2"/>
            </a:solidFill>
            <a:prstDash val="solid"/>
          </a:ln>
        </p:spPr>
      </p:sp>
      <p:sp>
        <p:nvSpPr>
          <p:cNvPr id="10" name="Text 8"/>
          <p:cNvSpPr txBox="1"/>
          <p:nvPr/>
        </p:nvSpPr>
        <p:spPr>
          <a:xfrm>
            <a:off x="6446520" y="1828800"/>
            <a:ext cx="2194560" cy="1005840"/>
          </a:xfrm>
          <a:prstGeom prst="rect">
            <a:avLst/>
          </a:prstGeom>
          <a:noFill/>
          <a:ln/>
        </p:spPr>
        <p:txBody>
          <a:bodyPr wrap="square" lIns="0" tIns="0" rIns="0" bIns="0" rtlCol="0" anchor="t"/>
          <a:lstStyle/>
          <a:p>
            <a:pPr marL="0" indent="0">
              <a:buNone/>
            </a:pPr>
            <a:r>
              <a:rPr lang="en-US" sz="4800" b="1" dirty="0">
                <a:solidFill>
                  <a:schemeClr val="tx2"/>
                </a:solidFill>
                <a:latin typeface="Cambria" pitchFamily="34" charset="0"/>
                <a:ea typeface="Cambria" pitchFamily="34" charset="-122"/>
                <a:cs typeface="Cambria" pitchFamily="34" charset="-120"/>
              </a:rPr>
              <a:t>39/39</a:t>
            </a:r>
            <a:endParaRPr lang="en-US" sz="4800" dirty="0"/>
          </a:p>
        </p:txBody>
      </p:sp>
      <p:sp>
        <p:nvSpPr>
          <p:cNvPr id="11" name="Text 9"/>
          <p:cNvSpPr txBox="1"/>
          <p:nvPr/>
        </p:nvSpPr>
        <p:spPr>
          <a:xfrm>
            <a:off x="6446520" y="2880360"/>
            <a:ext cx="2194560" cy="822960"/>
          </a:xfrm>
          <a:prstGeom prst="rect">
            <a:avLst/>
          </a:prstGeom>
          <a:noFill/>
          <a:ln/>
        </p:spPr>
        <p:txBody>
          <a:bodyPr wrap="square" lIns="0" tIns="0" rIns="0" bIns="0" rtlCol="0" anchor="t"/>
          <a:lstStyle/>
          <a:p>
            <a:pPr marL="0" indent="0">
              <a:buNone/>
            </a:pPr>
            <a:r>
              <a:rPr lang="en-US" sz="1500" dirty="0">
                <a:solidFill>
                  <a:schemeClr val="tx1"/>
                </a:solidFill>
              </a:rPr>
              <a:t>live end-to-end checks pass</a:t>
            </a:r>
            <a:endParaRPr lang="en-US" sz="1500" dirty="0"/>
          </a:p>
        </p:txBody>
      </p:sp>
      <p:sp>
        <p:nvSpPr>
          <p:cNvPr id="12" name="Shape 10"/>
          <p:cNvSpPr/>
          <p:nvPr/>
        </p:nvSpPr>
        <p:spPr>
          <a:xfrm>
            <a:off x="9052560" y="1554480"/>
            <a:ext cx="2606040" cy="2377440"/>
          </a:xfrm>
          <a:prstGeom prst="roundRect">
            <a:avLst>
              <a:gd name="adj" fmla="val 3077"/>
            </a:avLst>
          </a:prstGeom>
          <a:solidFill>
            <a:schemeClr val="bg2"/>
          </a:solidFill>
          <a:ln w="12700">
            <a:solidFill>
              <a:schemeClr val="bg2"/>
            </a:solidFill>
            <a:prstDash val="solid"/>
          </a:ln>
        </p:spPr>
      </p:sp>
      <p:sp>
        <p:nvSpPr>
          <p:cNvPr id="13" name="Text 11"/>
          <p:cNvSpPr txBox="1"/>
          <p:nvPr/>
        </p:nvSpPr>
        <p:spPr>
          <a:xfrm>
            <a:off x="9281160" y="1828800"/>
            <a:ext cx="2194560" cy="1005840"/>
          </a:xfrm>
          <a:prstGeom prst="rect">
            <a:avLst/>
          </a:prstGeom>
          <a:noFill/>
          <a:ln/>
        </p:spPr>
        <p:txBody>
          <a:bodyPr wrap="square" lIns="0" tIns="0" rIns="0" bIns="0" rtlCol="0" anchor="t"/>
          <a:lstStyle/>
          <a:p>
            <a:pPr marL="0" indent="0">
              <a:buNone/>
            </a:pPr>
            <a:r>
              <a:rPr lang="en-US" sz="4800" b="1" dirty="0">
                <a:solidFill>
                  <a:schemeClr val="tx2"/>
                </a:solidFill>
                <a:latin typeface="Cambria" pitchFamily="34" charset="0"/>
                <a:ea typeface="Cambria" pitchFamily="34" charset="-122"/>
                <a:cs typeface="Cambria" pitchFamily="34" charset="-120"/>
              </a:rPr>
              <a:t>487 ms</a:t>
            </a:r>
            <a:endParaRPr lang="en-US" sz="4800" dirty="0"/>
          </a:p>
        </p:txBody>
      </p:sp>
      <p:sp>
        <p:nvSpPr>
          <p:cNvPr id="14" name="Text 12"/>
          <p:cNvSpPr txBox="1"/>
          <p:nvPr/>
        </p:nvSpPr>
        <p:spPr>
          <a:xfrm>
            <a:off x="9281160" y="2880360"/>
            <a:ext cx="2194560" cy="822960"/>
          </a:xfrm>
          <a:prstGeom prst="rect">
            <a:avLst/>
          </a:prstGeom>
          <a:noFill/>
          <a:ln/>
        </p:spPr>
        <p:txBody>
          <a:bodyPr wrap="square" lIns="0" tIns="0" rIns="0" bIns="0" rtlCol="0" anchor="t"/>
          <a:lstStyle/>
          <a:p>
            <a:pPr marL="0" indent="0">
              <a:buNone/>
            </a:pPr>
            <a:r>
              <a:rPr lang="en-US" sz="1500" dirty="0">
                <a:solidFill>
                  <a:schemeClr val="tx1"/>
                </a:solidFill>
              </a:rPr>
              <a:t>POST /orders p95 at 20 VUs (target 800)</a:t>
            </a:r>
            <a:endParaRPr lang="en-US" sz="1500" dirty="0"/>
          </a:p>
        </p:txBody>
      </p:sp>
      <p:sp>
        <p:nvSpPr>
          <p:cNvPr id="15" name="Text 13"/>
          <p:cNvSpPr txBox="1"/>
          <p:nvPr/>
        </p:nvSpPr>
        <p:spPr>
          <a:xfrm>
            <a:off x="548640" y="4343400"/>
            <a:ext cx="11064240" cy="1097280"/>
          </a:xfrm>
          <a:prstGeom prst="rect">
            <a:avLst/>
          </a:prstGeom>
          <a:noFill/>
          <a:ln/>
        </p:spPr>
        <p:txBody>
          <a:bodyPr wrap="square" lIns="0" tIns="0" rIns="0" bIns="0" rtlCol="0" anchor="t"/>
          <a:lstStyle/>
          <a:p>
            <a:pPr marL="0" indent="0">
              <a:buNone/>
            </a:pPr>
            <a:r>
              <a:rPr lang="en-US" sz="1600" b="1" dirty="0">
                <a:solidFill>
                  <a:schemeClr val="tx2"/>
                </a:solidFill>
              </a:rPr>
              <a:t>Problem. </a:t>
            </a:r>
            <a:r>
              <a:rPr lang="en-US" sz="1600" dirty="0">
                <a:solidFill>
                  <a:schemeClr val="tx1"/>
                </a:solidFill>
              </a:rPr>
              <a:t>The labs left a platform built one topic at a time: security rebuilt twice, stock in memory, a Saga that could lose or double-apply events, and no way for a stranger to run it. We rebuilt it once, in its final shape.</a:t>
            </a:r>
            <a:endParaRPr lang="en-US" sz="1600" dirty="0"/>
          </a:p>
        </p:txBody>
      </p:sp>
      <p:sp>
        <p:nvSpPr>
          <p:cNvPr id="16" name="Text 14"/>
          <p:cNvSpPr txBox="1"/>
          <p:nvPr/>
        </p:nvSpPr>
        <p:spPr>
          <a:xfrm>
            <a:off x="548640" y="5532120"/>
            <a:ext cx="11064240" cy="457200"/>
          </a:xfrm>
          <a:prstGeom prst="rect">
            <a:avLst/>
          </a:prstGeom>
          <a:noFill/>
          <a:ln/>
        </p:spPr>
        <p:txBody>
          <a:bodyPr wrap="square" lIns="0" tIns="0" rIns="0" bIns="0" rtlCol="0" anchor="t"/>
          <a:lstStyle/>
          <a:p>
            <a:pPr marL="0" indent="0">
              <a:buNone/>
            </a:pPr>
            <a:r>
              <a:rPr lang="en-US" sz="1400" i="1" dirty="0">
                <a:solidFill>
                  <a:schemeClr val="accent4"/>
                </a:solidFill>
              </a:rPr>
              <a:t>Core FR-01…FR-16 complete · Bonus B2 Order Analytics + B1, B3, B4 · Docker Compose + Helm + ArgoCD · k6 load, stress and one bottleneck fixed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
        <p:nvSpPr>
          <p:cNvPr id="17" name="Presenter tag">
            <a:extLst>
              <a:ext uri="{FF2B5EF4-FFF2-40B4-BE49-F238E27FC236}">
                <a16:creationId xmlns:a16="http://schemas.microsoft.com/office/drawing/2014/main" id="{B132EDBE-3C97-4F2E-AD4D-DF5A4271419E}"/>
              </a:ext>
            </a:extLst>
          </p:cNvPr>
          <p:cNvSpPr/>
          <p:nvPr/>
        </p:nvSpPr>
        <p:spPr>
          <a:xfrm>
            <a:off x="8585200" y="6375400"/>
            <a:ext cx="2413000" cy="304800"/>
          </a:xfrm>
          <a:prstGeom prst="roundRect">
            <a:avLst/>
          </a:prstGeom>
          <a:solidFill>
            <a:srgbClr val="2A9D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n-US" sz="1100" b="1">
                <a:solidFill>
                  <a:srgbClr val="FFFFFF"/>
                </a:solidFill>
                <a:latin typeface="Calibri" panose="020F0502020204030204" pitchFamily="34" charset="0"/>
              </a:rPr>
              <a:t>Presenter: Nourhan (A)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buNone/>
            </a:pPr>
            <a:r>
              <a:rPr lang="en-US" sz="3200" b="1" dirty="0">
                <a:solidFill>
                  <a:schemeClr val="tx2"/>
                </a:solidFill>
              </a:rPr>
              <a:t>Eight services, one entry point, three topics</a:t>
            </a:r>
            <a:endParaRPr lang="en-US" sz="3200" dirty="0"/>
          </a:p>
        </p:txBody>
      </p:sp>
      <p:sp>
        <p:nvSpPr>
          <p:cNvPr id="3" name="Shape 1"/>
          <p:cNvSpPr/>
          <p:nvPr/>
        </p:nvSpPr>
        <p:spPr>
          <a:xfrm>
            <a:off x="548640" y="1417320"/>
            <a:ext cx="2011680" cy="914400"/>
          </a:xfrm>
          <a:prstGeom prst="roundRect">
            <a:avLst>
              <a:gd name="adj" fmla="val 8000"/>
            </a:avLst>
          </a:prstGeom>
          <a:solidFill>
            <a:schemeClr val="bg2"/>
          </a:solidFill>
          <a:ln w="12700">
            <a:solidFill>
              <a:schemeClr val="bg2"/>
            </a:solidFill>
            <a:prstDash val="solid"/>
          </a:ln>
        </p:spPr>
      </p:sp>
      <p:sp>
        <p:nvSpPr>
          <p:cNvPr id="4" name="Text 2"/>
          <p:cNvSpPr txBox="1"/>
          <p:nvPr/>
        </p:nvSpPr>
        <p:spPr>
          <a:xfrm>
            <a:off x="685800" y="1527048"/>
            <a:ext cx="1737360" cy="320040"/>
          </a:xfrm>
          <a:prstGeom prst="rect">
            <a:avLst/>
          </a:prstGeom>
          <a:noFill/>
          <a:ln/>
        </p:spPr>
        <p:txBody>
          <a:bodyPr wrap="square" lIns="0" tIns="0" rIns="0" bIns="0" rtlCol="0" anchor="t"/>
          <a:lstStyle/>
          <a:p>
            <a:pPr marL="0" indent="0" algn="ctr">
              <a:buNone/>
            </a:pPr>
            <a:r>
              <a:rPr lang="en-US" sz="1500" b="1" dirty="0">
                <a:solidFill>
                  <a:schemeClr val="tx1"/>
                </a:solidFill>
              </a:rPr>
              <a:t>Client</a:t>
            </a:r>
            <a:endParaRPr lang="en-US" sz="1500" dirty="0"/>
          </a:p>
        </p:txBody>
      </p:sp>
      <p:sp>
        <p:nvSpPr>
          <p:cNvPr id="5" name="Text 3"/>
          <p:cNvSpPr txBox="1"/>
          <p:nvPr/>
        </p:nvSpPr>
        <p:spPr>
          <a:xfrm>
            <a:off x="685800" y="1847088"/>
            <a:ext cx="1737360" cy="411480"/>
          </a:xfrm>
          <a:prstGeom prst="rect">
            <a:avLst/>
          </a:prstGeom>
          <a:noFill/>
          <a:ln/>
        </p:spPr>
        <p:txBody>
          <a:bodyPr wrap="square" lIns="0" tIns="0" rIns="0" bIns="0" rtlCol="0" anchor="t"/>
          <a:lstStyle/>
          <a:p>
            <a:pPr marL="0" indent="0" algn="ctr">
              <a:buNone/>
            </a:pPr>
            <a:r>
              <a:rPr lang="en-US" sz="1200" dirty="0">
                <a:solidFill>
                  <a:schemeClr val="tx1"/>
                </a:solidFill>
              </a:rPr>
              <a:t>browser · Postman · k6</a:t>
            </a:r>
            <a:endParaRPr lang="en-US" sz="1200" dirty="0"/>
          </a:p>
        </p:txBody>
      </p:sp>
      <p:sp>
        <p:nvSpPr>
          <p:cNvPr id="6" name="Shape 4"/>
          <p:cNvSpPr/>
          <p:nvPr/>
        </p:nvSpPr>
        <p:spPr>
          <a:xfrm>
            <a:off x="3017520" y="1417320"/>
            <a:ext cx="2743200" cy="914400"/>
          </a:xfrm>
          <a:prstGeom prst="roundRect">
            <a:avLst>
              <a:gd name="adj" fmla="val 8000"/>
            </a:avLst>
          </a:prstGeom>
          <a:solidFill>
            <a:schemeClr val="tx2"/>
          </a:solidFill>
          <a:ln w="12700">
            <a:solidFill>
              <a:schemeClr val="tx2"/>
            </a:solidFill>
            <a:prstDash val="solid"/>
          </a:ln>
        </p:spPr>
      </p:sp>
      <p:sp>
        <p:nvSpPr>
          <p:cNvPr id="7" name="Text 5"/>
          <p:cNvSpPr txBox="1"/>
          <p:nvPr/>
        </p:nvSpPr>
        <p:spPr>
          <a:xfrm>
            <a:off x="3154680" y="1527048"/>
            <a:ext cx="2468880" cy="320040"/>
          </a:xfrm>
          <a:prstGeom prst="rect">
            <a:avLst/>
          </a:prstGeom>
          <a:noFill/>
          <a:ln/>
        </p:spPr>
        <p:txBody>
          <a:bodyPr wrap="square" lIns="0" tIns="0" rIns="0" bIns="0" rtlCol="0" anchor="t"/>
          <a:lstStyle/>
          <a:p>
            <a:pPr marL="0" indent="0" algn="ctr">
              <a:buNone/>
            </a:pPr>
            <a:r>
              <a:rPr lang="en-US" sz="1500" b="1" dirty="0">
                <a:solidFill>
                  <a:schemeClr val="bg1"/>
                </a:solidFill>
              </a:rPr>
              <a:t>api-gateway :8080</a:t>
            </a:r>
            <a:endParaRPr lang="en-US" sz="1500" dirty="0"/>
          </a:p>
        </p:txBody>
      </p:sp>
      <p:sp>
        <p:nvSpPr>
          <p:cNvPr id="8" name="Text 6"/>
          <p:cNvSpPr txBox="1"/>
          <p:nvPr/>
        </p:nvSpPr>
        <p:spPr>
          <a:xfrm>
            <a:off x="3154680" y="1847088"/>
            <a:ext cx="2468880" cy="411480"/>
          </a:xfrm>
          <a:prstGeom prst="rect">
            <a:avLst/>
          </a:prstGeom>
          <a:noFill/>
          <a:ln/>
        </p:spPr>
        <p:txBody>
          <a:bodyPr wrap="square" lIns="0" tIns="0" rIns="0" bIns="0" rtlCol="0" anchor="t"/>
          <a:lstStyle/>
          <a:p>
            <a:pPr marL="0" indent="0" algn="ctr">
              <a:buNone/>
            </a:pPr>
            <a:r>
              <a:rPr lang="en-US" sz="1200" dirty="0">
                <a:solidFill>
                  <a:schemeClr val="bg1"/>
                </a:solidFill>
              </a:rPr>
              <a:t>JWT · roles · rate limit</a:t>
            </a:r>
            <a:endParaRPr lang="en-US" sz="1200" dirty="0"/>
          </a:p>
        </p:txBody>
      </p:sp>
      <p:sp>
        <p:nvSpPr>
          <p:cNvPr id="9" name="Shape 7"/>
          <p:cNvSpPr/>
          <p:nvPr/>
        </p:nvSpPr>
        <p:spPr>
          <a:xfrm>
            <a:off x="6309360" y="1417320"/>
            <a:ext cx="2377440" cy="914400"/>
          </a:xfrm>
          <a:prstGeom prst="roundRect">
            <a:avLst>
              <a:gd name="adj" fmla="val 8000"/>
            </a:avLst>
          </a:prstGeom>
          <a:solidFill>
            <a:schemeClr val="bg2"/>
          </a:solidFill>
          <a:ln w="12700">
            <a:solidFill>
              <a:schemeClr val="bg2"/>
            </a:solidFill>
            <a:prstDash val="solid"/>
          </a:ln>
        </p:spPr>
      </p:sp>
      <p:sp>
        <p:nvSpPr>
          <p:cNvPr id="10" name="Text 8"/>
          <p:cNvSpPr txBox="1"/>
          <p:nvPr/>
        </p:nvSpPr>
        <p:spPr>
          <a:xfrm>
            <a:off x="6446520" y="1527048"/>
            <a:ext cx="2103120" cy="320040"/>
          </a:xfrm>
          <a:prstGeom prst="rect">
            <a:avLst/>
          </a:prstGeom>
          <a:noFill/>
          <a:ln/>
        </p:spPr>
        <p:txBody>
          <a:bodyPr wrap="square" lIns="0" tIns="0" rIns="0" bIns="0" rtlCol="0" anchor="t"/>
          <a:lstStyle/>
          <a:p>
            <a:pPr marL="0" indent="0" algn="ctr">
              <a:buNone/>
            </a:pPr>
            <a:r>
              <a:rPr lang="en-US" sz="1500" b="1" dirty="0">
                <a:solidFill>
                  <a:schemeClr val="tx1"/>
                </a:solidFill>
              </a:rPr>
              <a:t>Keycloak</a:t>
            </a:r>
            <a:endParaRPr lang="en-US" sz="1500" dirty="0"/>
          </a:p>
        </p:txBody>
      </p:sp>
      <p:sp>
        <p:nvSpPr>
          <p:cNvPr id="11" name="Text 9"/>
          <p:cNvSpPr txBox="1"/>
          <p:nvPr/>
        </p:nvSpPr>
        <p:spPr>
          <a:xfrm>
            <a:off x="6446520" y="1847088"/>
            <a:ext cx="2103120" cy="411480"/>
          </a:xfrm>
          <a:prstGeom prst="rect">
            <a:avLst/>
          </a:prstGeom>
          <a:noFill/>
          <a:ln/>
        </p:spPr>
        <p:txBody>
          <a:bodyPr wrap="square" lIns="0" tIns="0" rIns="0" bIns="0" rtlCol="0" anchor="t"/>
          <a:lstStyle/>
          <a:p>
            <a:pPr marL="0" indent="0" algn="ctr">
              <a:buNone/>
            </a:pPr>
            <a:r>
              <a:rPr lang="en-US" sz="1200" dirty="0">
                <a:solidFill>
                  <a:schemeClr val="tx1"/>
                </a:solidFill>
              </a:rPr>
              <a:t>realm ecommerce-platform</a:t>
            </a:r>
            <a:endParaRPr lang="en-US" sz="1200" dirty="0"/>
          </a:p>
        </p:txBody>
      </p:sp>
      <p:sp>
        <p:nvSpPr>
          <p:cNvPr id="12" name="Shape 10"/>
          <p:cNvSpPr/>
          <p:nvPr/>
        </p:nvSpPr>
        <p:spPr>
          <a:xfrm>
            <a:off x="9144000" y="1417320"/>
            <a:ext cx="2468880" cy="914400"/>
          </a:xfrm>
          <a:prstGeom prst="roundRect">
            <a:avLst>
              <a:gd name="adj" fmla="val 8000"/>
            </a:avLst>
          </a:prstGeom>
          <a:solidFill>
            <a:schemeClr val="bg2"/>
          </a:solidFill>
          <a:ln w="12700">
            <a:solidFill>
              <a:schemeClr val="bg2"/>
            </a:solidFill>
            <a:prstDash val="solid"/>
          </a:ln>
        </p:spPr>
      </p:sp>
      <p:sp>
        <p:nvSpPr>
          <p:cNvPr id="13" name="Text 11"/>
          <p:cNvSpPr txBox="1"/>
          <p:nvPr/>
        </p:nvSpPr>
        <p:spPr>
          <a:xfrm>
            <a:off x="9281160" y="1527048"/>
            <a:ext cx="2194560" cy="320040"/>
          </a:xfrm>
          <a:prstGeom prst="rect">
            <a:avLst/>
          </a:prstGeom>
          <a:noFill/>
          <a:ln/>
        </p:spPr>
        <p:txBody>
          <a:bodyPr wrap="square" lIns="0" tIns="0" rIns="0" bIns="0" rtlCol="0" anchor="t"/>
          <a:lstStyle/>
          <a:p>
            <a:pPr marL="0" indent="0" algn="ctr">
              <a:buNone/>
            </a:pPr>
            <a:r>
              <a:rPr lang="en-US" sz="1500" b="1" dirty="0">
                <a:solidFill>
                  <a:schemeClr val="tx1"/>
                </a:solidFill>
              </a:rPr>
              <a:t>config · eureka</a:t>
            </a:r>
            <a:endParaRPr lang="en-US" sz="1500" dirty="0"/>
          </a:p>
        </p:txBody>
      </p:sp>
      <p:sp>
        <p:nvSpPr>
          <p:cNvPr id="14" name="Text 12"/>
          <p:cNvSpPr txBox="1"/>
          <p:nvPr/>
        </p:nvSpPr>
        <p:spPr>
          <a:xfrm>
            <a:off x="9281160" y="1847088"/>
            <a:ext cx="2194560" cy="411480"/>
          </a:xfrm>
          <a:prstGeom prst="rect">
            <a:avLst/>
          </a:prstGeom>
          <a:noFill/>
          <a:ln/>
        </p:spPr>
        <p:txBody>
          <a:bodyPr wrap="square" lIns="0" tIns="0" rIns="0" bIns="0" rtlCol="0" anchor="t"/>
          <a:lstStyle/>
          <a:p>
            <a:pPr marL="0" indent="0" algn="ctr">
              <a:buNone/>
            </a:pPr>
            <a:r>
              <a:rPr lang="en-US" sz="1200" dirty="0">
                <a:solidFill>
                  <a:schemeClr val="tx1"/>
                </a:solidFill>
              </a:rPr>
              <a:t>:8888 · :8761</a:t>
            </a:r>
            <a:endParaRPr lang="en-US" sz="1200" dirty="0"/>
          </a:p>
        </p:txBody>
      </p:sp>
      <p:sp>
        <p:nvSpPr>
          <p:cNvPr id="15" name="Shape 13"/>
          <p:cNvSpPr/>
          <p:nvPr/>
        </p:nvSpPr>
        <p:spPr>
          <a:xfrm>
            <a:off x="2560320" y="1874520"/>
            <a:ext cx="457200" cy="0"/>
          </a:xfrm>
          <a:prstGeom prst="line">
            <a:avLst/>
          </a:prstGeom>
          <a:noFill/>
          <a:ln w="19050">
            <a:solidFill>
              <a:schemeClr val="accent4"/>
            </a:solidFill>
            <a:prstDash val="solid"/>
            <a:tailEnd type="triangle"/>
          </a:ln>
        </p:spPr>
      </p:sp>
      <p:sp>
        <p:nvSpPr>
          <p:cNvPr id="16" name="Shape 14"/>
          <p:cNvSpPr/>
          <p:nvPr/>
        </p:nvSpPr>
        <p:spPr>
          <a:xfrm>
            <a:off x="548640" y="2880360"/>
            <a:ext cx="2084832" cy="960120"/>
          </a:xfrm>
          <a:prstGeom prst="roundRect">
            <a:avLst>
              <a:gd name="adj" fmla="val 7619"/>
            </a:avLst>
          </a:prstGeom>
          <a:solidFill>
            <a:schemeClr val="bg2"/>
          </a:solidFill>
          <a:ln w="12700">
            <a:solidFill>
              <a:schemeClr val="bg2"/>
            </a:solidFill>
            <a:prstDash val="solid"/>
          </a:ln>
        </p:spPr>
      </p:sp>
      <p:sp>
        <p:nvSpPr>
          <p:cNvPr id="17" name="Text 15"/>
          <p:cNvSpPr txBox="1"/>
          <p:nvPr/>
        </p:nvSpPr>
        <p:spPr>
          <a:xfrm>
            <a:off x="685800" y="2990088"/>
            <a:ext cx="1810512" cy="320040"/>
          </a:xfrm>
          <a:prstGeom prst="rect">
            <a:avLst/>
          </a:prstGeom>
          <a:noFill/>
          <a:ln/>
        </p:spPr>
        <p:txBody>
          <a:bodyPr wrap="square" lIns="0" tIns="0" rIns="0" bIns="0" rtlCol="0" anchor="t"/>
          <a:lstStyle/>
          <a:p>
            <a:pPr marL="0" indent="0" algn="ctr">
              <a:buNone/>
            </a:pPr>
            <a:r>
              <a:rPr lang="en-US" sz="1500" b="1" dirty="0">
                <a:solidFill>
                  <a:schemeClr val="tx1"/>
                </a:solidFill>
              </a:rPr>
              <a:t>product :8081</a:t>
            </a:r>
            <a:endParaRPr lang="en-US" sz="1500" dirty="0"/>
          </a:p>
        </p:txBody>
      </p:sp>
      <p:sp>
        <p:nvSpPr>
          <p:cNvPr id="18" name="Text 16"/>
          <p:cNvSpPr txBox="1"/>
          <p:nvPr/>
        </p:nvSpPr>
        <p:spPr>
          <a:xfrm>
            <a:off x="685800" y="3310128"/>
            <a:ext cx="1810512" cy="457200"/>
          </a:xfrm>
          <a:prstGeom prst="rect">
            <a:avLst/>
          </a:prstGeom>
          <a:noFill/>
          <a:ln/>
        </p:spPr>
        <p:txBody>
          <a:bodyPr wrap="square" lIns="0" tIns="0" rIns="0" bIns="0" rtlCol="0" anchor="t"/>
          <a:lstStyle/>
          <a:p>
            <a:pPr marL="0" indent="0" algn="ctr">
              <a:buNone/>
            </a:pPr>
            <a:r>
              <a:rPr lang="en-US" sz="1200" dirty="0">
                <a:solidFill>
                  <a:schemeClr val="tx1"/>
                </a:solidFill>
              </a:rPr>
              <a:t>PG + Redis cache</a:t>
            </a:r>
            <a:endParaRPr lang="en-US" sz="1200" dirty="0"/>
          </a:p>
        </p:txBody>
      </p:sp>
      <p:sp>
        <p:nvSpPr>
          <p:cNvPr id="19" name="Shape 17"/>
          <p:cNvSpPr/>
          <p:nvPr/>
        </p:nvSpPr>
        <p:spPr>
          <a:xfrm>
            <a:off x="2816352" y="2880360"/>
            <a:ext cx="2084832" cy="960120"/>
          </a:xfrm>
          <a:prstGeom prst="roundRect">
            <a:avLst>
              <a:gd name="adj" fmla="val 7619"/>
            </a:avLst>
          </a:prstGeom>
          <a:solidFill>
            <a:schemeClr val="bg2"/>
          </a:solidFill>
          <a:ln w="12700">
            <a:solidFill>
              <a:schemeClr val="bg2"/>
            </a:solidFill>
            <a:prstDash val="solid"/>
          </a:ln>
        </p:spPr>
      </p:sp>
      <p:sp>
        <p:nvSpPr>
          <p:cNvPr id="20" name="Text 18"/>
          <p:cNvSpPr txBox="1"/>
          <p:nvPr/>
        </p:nvSpPr>
        <p:spPr>
          <a:xfrm>
            <a:off x="2953512" y="2990088"/>
            <a:ext cx="1810512" cy="320040"/>
          </a:xfrm>
          <a:prstGeom prst="rect">
            <a:avLst/>
          </a:prstGeom>
          <a:noFill/>
          <a:ln/>
        </p:spPr>
        <p:txBody>
          <a:bodyPr wrap="square" lIns="0" tIns="0" rIns="0" bIns="0" rtlCol="0" anchor="t"/>
          <a:lstStyle/>
          <a:p>
            <a:pPr marL="0" indent="0" algn="ctr">
              <a:buNone/>
            </a:pPr>
            <a:r>
              <a:rPr lang="en-US" sz="1500" b="1" dirty="0">
                <a:solidFill>
                  <a:schemeClr val="tx1"/>
                </a:solidFill>
              </a:rPr>
              <a:t>order :8082</a:t>
            </a:r>
            <a:endParaRPr lang="en-US" sz="1500" dirty="0"/>
          </a:p>
        </p:txBody>
      </p:sp>
      <p:sp>
        <p:nvSpPr>
          <p:cNvPr id="21" name="Text 19"/>
          <p:cNvSpPr txBox="1"/>
          <p:nvPr/>
        </p:nvSpPr>
        <p:spPr>
          <a:xfrm>
            <a:off x="2953512" y="3310128"/>
            <a:ext cx="1810512" cy="457200"/>
          </a:xfrm>
          <a:prstGeom prst="rect">
            <a:avLst/>
          </a:prstGeom>
          <a:noFill/>
          <a:ln/>
        </p:spPr>
        <p:txBody>
          <a:bodyPr wrap="square" lIns="0" tIns="0" rIns="0" bIns="0" rtlCol="0" anchor="t"/>
          <a:lstStyle/>
          <a:p>
            <a:pPr marL="0" indent="0" algn="ctr">
              <a:buNone/>
            </a:pPr>
            <a:r>
              <a:rPr lang="en-US" sz="1200" dirty="0">
                <a:solidFill>
                  <a:schemeClr val="tx1"/>
                </a:solidFill>
              </a:rPr>
              <a:t>PG + outbox · Saga</a:t>
            </a:r>
            <a:endParaRPr lang="en-US" sz="1200" dirty="0"/>
          </a:p>
        </p:txBody>
      </p:sp>
      <p:sp>
        <p:nvSpPr>
          <p:cNvPr id="22" name="Shape 20"/>
          <p:cNvSpPr/>
          <p:nvPr/>
        </p:nvSpPr>
        <p:spPr>
          <a:xfrm>
            <a:off x="5084064" y="2880360"/>
            <a:ext cx="2084832" cy="960120"/>
          </a:xfrm>
          <a:prstGeom prst="roundRect">
            <a:avLst>
              <a:gd name="adj" fmla="val 7619"/>
            </a:avLst>
          </a:prstGeom>
          <a:solidFill>
            <a:schemeClr val="bg2"/>
          </a:solidFill>
          <a:ln w="12700">
            <a:solidFill>
              <a:schemeClr val="bg2"/>
            </a:solidFill>
            <a:prstDash val="solid"/>
          </a:ln>
        </p:spPr>
      </p:sp>
      <p:sp>
        <p:nvSpPr>
          <p:cNvPr id="23" name="Text 21"/>
          <p:cNvSpPr txBox="1"/>
          <p:nvPr/>
        </p:nvSpPr>
        <p:spPr>
          <a:xfrm>
            <a:off x="5221224" y="2990088"/>
            <a:ext cx="1810512" cy="320040"/>
          </a:xfrm>
          <a:prstGeom prst="rect">
            <a:avLst/>
          </a:prstGeom>
          <a:noFill/>
          <a:ln/>
        </p:spPr>
        <p:txBody>
          <a:bodyPr wrap="square" lIns="0" tIns="0" rIns="0" bIns="0" rtlCol="0" anchor="t"/>
          <a:lstStyle/>
          <a:p>
            <a:pPr marL="0" indent="0" algn="ctr">
              <a:buNone/>
            </a:pPr>
            <a:r>
              <a:rPr lang="en-US" sz="1500" b="1" dirty="0">
                <a:solidFill>
                  <a:schemeClr val="tx1"/>
                </a:solidFill>
              </a:rPr>
              <a:t>inventory :8084</a:t>
            </a:r>
            <a:endParaRPr lang="en-US" sz="1500" dirty="0"/>
          </a:p>
        </p:txBody>
      </p:sp>
      <p:sp>
        <p:nvSpPr>
          <p:cNvPr id="24" name="Text 22"/>
          <p:cNvSpPr txBox="1"/>
          <p:nvPr/>
        </p:nvSpPr>
        <p:spPr>
          <a:xfrm>
            <a:off x="5221224" y="3310128"/>
            <a:ext cx="1810512" cy="457200"/>
          </a:xfrm>
          <a:prstGeom prst="rect">
            <a:avLst/>
          </a:prstGeom>
          <a:noFill/>
          <a:ln/>
        </p:spPr>
        <p:txBody>
          <a:bodyPr wrap="square" lIns="0" tIns="0" rIns="0" bIns="0" rtlCol="0" anchor="t"/>
          <a:lstStyle/>
          <a:p>
            <a:pPr marL="0" indent="0" algn="ctr">
              <a:buNone/>
            </a:pPr>
            <a:r>
              <a:rPr lang="en-US" sz="1200" dirty="0">
                <a:solidFill>
                  <a:schemeClr val="tx1"/>
                </a:solidFill>
              </a:rPr>
              <a:t>PG · reserve/release</a:t>
            </a:r>
            <a:endParaRPr lang="en-US" sz="1200" dirty="0"/>
          </a:p>
        </p:txBody>
      </p:sp>
      <p:sp>
        <p:nvSpPr>
          <p:cNvPr id="25" name="Shape 23"/>
          <p:cNvSpPr/>
          <p:nvPr/>
        </p:nvSpPr>
        <p:spPr>
          <a:xfrm>
            <a:off x="7351776" y="2880360"/>
            <a:ext cx="2084832" cy="960120"/>
          </a:xfrm>
          <a:prstGeom prst="roundRect">
            <a:avLst>
              <a:gd name="adj" fmla="val 7619"/>
            </a:avLst>
          </a:prstGeom>
          <a:solidFill>
            <a:schemeClr val="bg2"/>
          </a:solidFill>
          <a:ln w="12700">
            <a:solidFill>
              <a:schemeClr val="bg2"/>
            </a:solidFill>
            <a:prstDash val="solid"/>
          </a:ln>
        </p:spPr>
      </p:sp>
      <p:sp>
        <p:nvSpPr>
          <p:cNvPr id="26" name="Text 24"/>
          <p:cNvSpPr txBox="1"/>
          <p:nvPr/>
        </p:nvSpPr>
        <p:spPr>
          <a:xfrm>
            <a:off x="7488936" y="2990088"/>
            <a:ext cx="1810512" cy="320040"/>
          </a:xfrm>
          <a:prstGeom prst="rect">
            <a:avLst/>
          </a:prstGeom>
          <a:noFill/>
          <a:ln/>
        </p:spPr>
        <p:txBody>
          <a:bodyPr wrap="square" lIns="0" tIns="0" rIns="0" bIns="0" rtlCol="0" anchor="t"/>
          <a:lstStyle/>
          <a:p>
            <a:pPr marL="0" indent="0" algn="ctr">
              <a:buNone/>
            </a:pPr>
            <a:r>
              <a:rPr lang="en-US" sz="1500" b="1" dirty="0">
                <a:solidFill>
                  <a:schemeClr val="tx1"/>
                </a:solidFill>
              </a:rPr>
              <a:t>payment :8083</a:t>
            </a:r>
            <a:endParaRPr lang="en-US" sz="1500" dirty="0"/>
          </a:p>
        </p:txBody>
      </p:sp>
      <p:sp>
        <p:nvSpPr>
          <p:cNvPr id="27" name="Text 25"/>
          <p:cNvSpPr txBox="1"/>
          <p:nvPr/>
        </p:nvSpPr>
        <p:spPr>
          <a:xfrm>
            <a:off x="7488936" y="3310128"/>
            <a:ext cx="1810512" cy="457200"/>
          </a:xfrm>
          <a:prstGeom prst="rect">
            <a:avLst/>
          </a:prstGeom>
          <a:noFill/>
          <a:ln/>
        </p:spPr>
        <p:txBody>
          <a:bodyPr wrap="square" lIns="0" tIns="0" rIns="0" bIns="0" rtlCol="0" anchor="t"/>
          <a:lstStyle/>
          <a:p>
            <a:pPr marL="0" indent="0" algn="ctr">
              <a:buNone/>
            </a:pPr>
            <a:r>
              <a:rPr lang="en-US" sz="1200" dirty="0">
                <a:solidFill>
                  <a:schemeClr val="tx1"/>
                </a:solidFill>
              </a:rPr>
              <a:t>PG · idempotent</a:t>
            </a:r>
            <a:endParaRPr lang="en-US" sz="1200" dirty="0"/>
          </a:p>
        </p:txBody>
      </p:sp>
      <p:sp>
        <p:nvSpPr>
          <p:cNvPr id="28" name="Shape 26"/>
          <p:cNvSpPr/>
          <p:nvPr/>
        </p:nvSpPr>
        <p:spPr>
          <a:xfrm>
            <a:off x="9619488" y="2880360"/>
            <a:ext cx="2084832" cy="960120"/>
          </a:xfrm>
          <a:prstGeom prst="roundRect">
            <a:avLst>
              <a:gd name="adj" fmla="val 7619"/>
            </a:avLst>
          </a:prstGeom>
          <a:solidFill>
            <a:schemeClr val="bg2"/>
          </a:solidFill>
          <a:ln w="12700">
            <a:solidFill>
              <a:schemeClr val="bg2"/>
            </a:solidFill>
            <a:prstDash val="solid"/>
          </a:ln>
        </p:spPr>
      </p:sp>
      <p:sp>
        <p:nvSpPr>
          <p:cNvPr id="29" name="Text 27"/>
          <p:cNvSpPr txBox="1"/>
          <p:nvPr/>
        </p:nvSpPr>
        <p:spPr>
          <a:xfrm>
            <a:off x="9756648" y="2990088"/>
            <a:ext cx="1810512" cy="320040"/>
          </a:xfrm>
          <a:prstGeom prst="rect">
            <a:avLst/>
          </a:prstGeom>
          <a:noFill/>
          <a:ln/>
        </p:spPr>
        <p:txBody>
          <a:bodyPr wrap="square" lIns="0" tIns="0" rIns="0" bIns="0" rtlCol="0" anchor="t"/>
          <a:lstStyle/>
          <a:p>
            <a:pPr marL="0" indent="0" algn="ctr">
              <a:buNone/>
            </a:pPr>
            <a:r>
              <a:rPr lang="en-US" sz="1500" b="1" dirty="0">
                <a:solidFill>
                  <a:schemeClr val="tx1"/>
                </a:solidFill>
              </a:rPr>
              <a:t>notification :8085</a:t>
            </a:r>
            <a:endParaRPr lang="en-US" sz="1500" dirty="0"/>
          </a:p>
        </p:txBody>
      </p:sp>
      <p:sp>
        <p:nvSpPr>
          <p:cNvPr id="30" name="Text 28"/>
          <p:cNvSpPr txBox="1"/>
          <p:nvPr/>
        </p:nvSpPr>
        <p:spPr>
          <a:xfrm>
            <a:off x="9756648" y="3310128"/>
            <a:ext cx="1810512" cy="457200"/>
          </a:xfrm>
          <a:prstGeom prst="rect">
            <a:avLst/>
          </a:prstGeom>
          <a:noFill/>
          <a:ln/>
        </p:spPr>
        <p:txBody>
          <a:bodyPr wrap="square" lIns="0" tIns="0" rIns="0" bIns="0" rtlCol="0" anchor="t"/>
          <a:lstStyle/>
          <a:p>
            <a:pPr marL="0" indent="0" algn="ctr">
              <a:buNone/>
            </a:pPr>
            <a:r>
              <a:rPr lang="en-US" sz="1200" dirty="0">
                <a:solidFill>
                  <a:schemeClr val="tx1"/>
                </a:solidFill>
              </a:rPr>
              <a:t>retry → DLT</a:t>
            </a:r>
            <a:endParaRPr lang="en-US" sz="1200" dirty="0"/>
          </a:p>
        </p:txBody>
      </p:sp>
      <p:sp>
        <p:nvSpPr>
          <p:cNvPr id="31" name="Shape 29"/>
          <p:cNvSpPr/>
          <p:nvPr/>
        </p:nvSpPr>
        <p:spPr>
          <a:xfrm>
            <a:off x="4389120" y="2331720"/>
            <a:ext cx="0" cy="548640"/>
          </a:xfrm>
          <a:prstGeom prst="line">
            <a:avLst/>
          </a:prstGeom>
          <a:noFill/>
          <a:ln w="19050">
            <a:solidFill>
              <a:schemeClr val="accent4"/>
            </a:solidFill>
            <a:prstDash val="solid"/>
            <a:tailEnd type="triangle"/>
          </a:ln>
        </p:spPr>
      </p:sp>
      <p:sp>
        <p:nvSpPr>
          <p:cNvPr id="32" name="Shape 30"/>
          <p:cNvSpPr/>
          <p:nvPr/>
        </p:nvSpPr>
        <p:spPr>
          <a:xfrm>
            <a:off x="548640" y="4206240"/>
            <a:ext cx="11064240" cy="868680"/>
          </a:xfrm>
          <a:prstGeom prst="roundRect">
            <a:avLst>
              <a:gd name="adj" fmla="val 8421"/>
            </a:avLst>
          </a:prstGeom>
          <a:solidFill>
            <a:schemeClr val="accent2"/>
          </a:solidFill>
          <a:ln w="12700">
            <a:solidFill>
              <a:schemeClr val="accent2"/>
            </a:solidFill>
            <a:prstDash val="solid"/>
          </a:ln>
        </p:spPr>
      </p:sp>
      <p:sp>
        <p:nvSpPr>
          <p:cNvPr id="33" name="Text 31"/>
          <p:cNvSpPr txBox="1"/>
          <p:nvPr/>
        </p:nvSpPr>
        <p:spPr>
          <a:xfrm>
            <a:off x="777240" y="4206240"/>
            <a:ext cx="10607040" cy="868680"/>
          </a:xfrm>
          <a:prstGeom prst="rect">
            <a:avLst/>
          </a:prstGeom>
          <a:noFill/>
          <a:ln/>
        </p:spPr>
        <p:txBody>
          <a:bodyPr wrap="square" lIns="0" tIns="0" rIns="0" bIns="0" rtlCol="0" anchor="ctr"/>
          <a:lstStyle/>
          <a:p>
            <a:pPr marL="0" indent="0">
              <a:buNone/>
            </a:pPr>
            <a:r>
              <a:rPr lang="en-US" sz="1600" b="1" dirty="0">
                <a:solidFill>
                  <a:schemeClr val="bg1"/>
                </a:solidFill>
              </a:rPr>
              <a:t>Kafka   order-events  →  inventory-events  →  payment-events      (key = orderId · every topic has a &lt;topic&gt;.DLT)</a:t>
            </a:r>
            <a:endParaRPr lang="en-US" sz="1600" dirty="0"/>
          </a:p>
        </p:txBody>
      </p:sp>
      <p:sp>
        <p:nvSpPr>
          <p:cNvPr id="34" name="Text 32"/>
          <p:cNvSpPr txBox="1"/>
          <p:nvPr/>
        </p:nvSpPr>
        <p:spPr>
          <a:xfrm>
            <a:off x="548640" y="5349240"/>
            <a:ext cx="11064240" cy="731520"/>
          </a:xfrm>
          <a:prstGeom prst="rect">
            <a:avLst/>
          </a:prstGeom>
          <a:noFill/>
          <a:ln/>
        </p:spPr>
        <p:txBody>
          <a:bodyPr wrap="square" lIns="0" tIns="0" rIns="0" bIns="0" rtlCol="0" anchor="t"/>
          <a:lstStyle/>
          <a:p>
            <a:pPr marL="0" indent="0">
              <a:buNone/>
            </a:pPr>
            <a:r>
              <a:rPr lang="en-US" sz="1500" b="1" dirty="0">
                <a:solidFill>
                  <a:schemeClr val="tx2"/>
                </a:solidFill>
              </a:rPr>
              <a:t>Sync </a:t>
            </a:r>
            <a:r>
              <a:rPr lang="en-US" sz="1500" dirty="0">
                <a:solidFill>
                  <a:schemeClr val="tx1"/>
                </a:solidFill>
              </a:rPr>
              <a:t>only where the caller needs the answer: order → inventory /check and → product price (Feign + Resilience4j).  </a:t>
            </a:r>
            <a:r>
              <a:rPr lang="en-US" sz="1500" b="1" dirty="0">
                <a:solidFill>
                  <a:schemeClr val="tx2"/>
                </a:solidFill>
              </a:rPr>
              <a:t>Async </a:t>
            </a:r>
            <a:r>
              <a:rPr lang="en-US" sz="1500" dirty="0">
                <a:solidFill>
                  <a:schemeClr val="tx1"/>
                </a:solidFill>
              </a:rPr>
              <a:t>for the business transaction: the customer never waits for payment.</a:t>
            </a:r>
            <a:endParaRPr lang="en-US" sz="1500" dirty="0"/>
          </a:p>
        </p:txBody>
      </p:sp>
      <p:sp>
        <p:nvSpPr>
          <p:cNvPr id="3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
        <p:nvSpPr>
          <p:cNvPr id="36" name="Presenter tag">
            <a:extLst>
              <a:ext uri="{FF2B5EF4-FFF2-40B4-BE49-F238E27FC236}">
                <a16:creationId xmlns:a16="http://schemas.microsoft.com/office/drawing/2014/main" id="{8CDA5CC4-04F4-4CC9-A821-C1EB598E186D}"/>
              </a:ext>
            </a:extLst>
          </p:cNvPr>
          <p:cNvSpPr/>
          <p:nvPr/>
        </p:nvSpPr>
        <p:spPr>
          <a:xfrm>
            <a:off x="8585200" y="6375400"/>
            <a:ext cx="2413000" cy="304800"/>
          </a:xfrm>
          <a:prstGeom prst="roundRect">
            <a:avLst/>
          </a:prstGeom>
          <a:solidFill>
            <a:srgbClr val="F2A5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n-US" sz="1100" b="1">
                <a:solidFill>
                  <a:srgbClr val="0D3B4A"/>
                </a:solidFill>
                <a:latin typeface="Calibri" panose="020F0502020204030204" pitchFamily="34" charset="0"/>
              </a:rPr>
              <a:t>Presenter: Mohammed (B)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buNone/>
            </a:pPr>
            <a:r>
              <a:rPr lang="en-US" sz="3200" b="1" dirty="0">
                <a:solidFill>
                  <a:schemeClr val="tx2"/>
                </a:solidFill>
              </a:rPr>
              <a:t>The order Saga: choreography + transactional outbox</a:t>
            </a:r>
            <a:endParaRPr lang="en-US" sz="3200" dirty="0"/>
          </a:p>
        </p:txBody>
      </p:sp>
      <p:sp>
        <p:nvSpPr>
          <p:cNvPr id="3" name="Shape 1"/>
          <p:cNvSpPr/>
          <p:nvPr/>
        </p:nvSpPr>
        <p:spPr>
          <a:xfrm>
            <a:off x="548640" y="1508760"/>
            <a:ext cx="457200" cy="457200"/>
          </a:xfrm>
          <a:prstGeom prst="ellipse">
            <a:avLst/>
          </a:prstGeom>
          <a:solidFill>
            <a:schemeClr val="accent2"/>
          </a:solidFill>
          <a:ln w="12700">
            <a:solidFill>
              <a:schemeClr val="accent2"/>
            </a:solidFill>
            <a:prstDash val="solid"/>
          </a:ln>
        </p:spPr>
      </p:sp>
      <p:sp>
        <p:nvSpPr>
          <p:cNvPr id="4" name="Text 2"/>
          <p:cNvSpPr txBox="1"/>
          <p:nvPr/>
        </p:nvSpPr>
        <p:spPr>
          <a:xfrm>
            <a:off x="548640" y="15087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5" name="Text 3"/>
          <p:cNvSpPr txBox="1"/>
          <p:nvPr/>
        </p:nvSpPr>
        <p:spPr>
          <a:xfrm>
            <a:off x="1188720" y="1527048"/>
            <a:ext cx="2377440" cy="411480"/>
          </a:xfrm>
          <a:prstGeom prst="rect">
            <a:avLst/>
          </a:prstGeom>
          <a:noFill/>
          <a:ln/>
        </p:spPr>
        <p:txBody>
          <a:bodyPr wrap="square" lIns="0" tIns="0" rIns="0" bIns="0" rtlCol="0" anchor="t"/>
          <a:lstStyle/>
          <a:p>
            <a:pPr marL="0" indent="0">
              <a:buNone/>
            </a:pPr>
            <a:r>
              <a:rPr lang="en-US" sz="1700" b="1" dirty="0">
                <a:solidFill>
                  <a:schemeClr val="tx2"/>
                </a:solidFill>
              </a:rPr>
              <a:t>Order</a:t>
            </a:r>
            <a:endParaRPr lang="en-US" sz="1700" dirty="0"/>
          </a:p>
        </p:txBody>
      </p:sp>
      <p:sp>
        <p:nvSpPr>
          <p:cNvPr id="6" name="Text 4"/>
          <p:cNvSpPr txBox="1"/>
          <p:nvPr/>
        </p:nvSpPr>
        <p:spPr>
          <a:xfrm>
            <a:off x="3566160" y="1527048"/>
            <a:ext cx="4572000" cy="731520"/>
          </a:xfrm>
          <a:prstGeom prst="rect">
            <a:avLst/>
          </a:prstGeom>
          <a:noFill/>
          <a:ln/>
        </p:spPr>
        <p:txBody>
          <a:bodyPr wrap="square" lIns="0" tIns="0" rIns="0" bIns="0" rtlCol="0" anchor="t"/>
          <a:lstStyle/>
          <a:p>
            <a:pPr marL="0" indent="0">
              <a:buNone/>
            </a:pPr>
            <a:r>
              <a:rPr lang="en-US" sz="1400" dirty="0">
                <a:solidFill>
                  <a:schemeClr val="tx1"/>
                </a:solidFill>
              </a:rPr>
              <a:t>pre-check stock (Feign), price from catalogue, then ONE transaction: order PENDING + outbox OrderPlaced → 201</a:t>
            </a:r>
            <a:endParaRPr lang="en-US" sz="1400" dirty="0"/>
          </a:p>
        </p:txBody>
      </p:sp>
      <p:sp>
        <p:nvSpPr>
          <p:cNvPr id="7" name="Shape 5"/>
          <p:cNvSpPr/>
          <p:nvPr/>
        </p:nvSpPr>
        <p:spPr>
          <a:xfrm>
            <a:off x="548640" y="2377440"/>
            <a:ext cx="457200" cy="457200"/>
          </a:xfrm>
          <a:prstGeom prst="ellipse">
            <a:avLst/>
          </a:prstGeom>
          <a:solidFill>
            <a:schemeClr val="accent2"/>
          </a:solidFill>
          <a:ln w="12700">
            <a:solidFill>
              <a:schemeClr val="accent2"/>
            </a:solidFill>
            <a:prstDash val="solid"/>
          </a:ln>
        </p:spPr>
      </p:sp>
      <p:sp>
        <p:nvSpPr>
          <p:cNvPr id="8" name="Text 6"/>
          <p:cNvSpPr txBox="1"/>
          <p:nvPr/>
        </p:nvSpPr>
        <p:spPr>
          <a:xfrm>
            <a:off x="548640" y="237744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Text 7"/>
          <p:cNvSpPr txBox="1"/>
          <p:nvPr/>
        </p:nvSpPr>
        <p:spPr>
          <a:xfrm>
            <a:off x="1188720" y="2395728"/>
            <a:ext cx="2377440" cy="411480"/>
          </a:xfrm>
          <a:prstGeom prst="rect">
            <a:avLst/>
          </a:prstGeom>
          <a:noFill/>
          <a:ln/>
        </p:spPr>
        <p:txBody>
          <a:bodyPr wrap="square" lIns="0" tIns="0" rIns="0" bIns="0" rtlCol="0" anchor="t"/>
          <a:lstStyle/>
          <a:p>
            <a:pPr marL="0" indent="0">
              <a:buNone/>
            </a:pPr>
            <a:r>
              <a:rPr lang="en-US" sz="1700" b="1" dirty="0">
                <a:solidFill>
                  <a:schemeClr val="tx2"/>
                </a:solidFill>
              </a:rPr>
              <a:t>Inventory</a:t>
            </a:r>
            <a:endParaRPr lang="en-US" sz="1700" dirty="0"/>
          </a:p>
        </p:txBody>
      </p:sp>
      <p:sp>
        <p:nvSpPr>
          <p:cNvPr id="10" name="Text 8"/>
          <p:cNvSpPr txBox="1"/>
          <p:nvPr/>
        </p:nvSpPr>
        <p:spPr>
          <a:xfrm>
            <a:off x="3566160" y="2395728"/>
            <a:ext cx="4572000" cy="731520"/>
          </a:xfrm>
          <a:prstGeom prst="rect">
            <a:avLst/>
          </a:prstGeom>
          <a:noFill/>
          <a:ln/>
        </p:spPr>
        <p:txBody>
          <a:bodyPr wrap="square" lIns="0" tIns="0" rIns="0" bIns="0" rtlCol="0" anchor="t"/>
          <a:lstStyle/>
          <a:p>
            <a:pPr marL="0" indent="0">
              <a:buNone/>
            </a:pPr>
            <a:r>
              <a:rPr lang="en-US" sz="1400" dirty="0">
                <a:solidFill>
                  <a:schemeClr val="tx1"/>
                </a:solidFill>
              </a:rPr>
              <a:t>atomic reserve, outbox InventoryReserved (or ReservationFailed)</a:t>
            </a:r>
            <a:endParaRPr lang="en-US" sz="1400" dirty="0"/>
          </a:p>
        </p:txBody>
      </p:sp>
      <p:sp>
        <p:nvSpPr>
          <p:cNvPr id="11" name="Shape 9"/>
          <p:cNvSpPr/>
          <p:nvPr/>
        </p:nvSpPr>
        <p:spPr>
          <a:xfrm>
            <a:off x="548640" y="3246120"/>
            <a:ext cx="457200" cy="457200"/>
          </a:xfrm>
          <a:prstGeom prst="ellipse">
            <a:avLst/>
          </a:prstGeom>
          <a:solidFill>
            <a:schemeClr val="accent2"/>
          </a:solidFill>
          <a:ln w="12700">
            <a:solidFill>
              <a:schemeClr val="accent2"/>
            </a:solidFill>
            <a:prstDash val="solid"/>
          </a:ln>
        </p:spPr>
      </p:sp>
      <p:sp>
        <p:nvSpPr>
          <p:cNvPr id="12" name="Text 10"/>
          <p:cNvSpPr txBox="1"/>
          <p:nvPr/>
        </p:nvSpPr>
        <p:spPr>
          <a:xfrm>
            <a:off x="548640" y="324612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3" name="Text 11"/>
          <p:cNvSpPr txBox="1"/>
          <p:nvPr/>
        </p:nvSpPr>
        <p:spPr>
          <a:xfrm>
            <a:off x="1188720" y="3264408"/>
            <a:ext cx="2377440" cy="411480"/>
          </a:xfrm>
          <a:prstGeom prst="rect">
            <a:avLst/>
          </a:prstGeom>
          <a:noFill/>
          <a:ln/>
        </p:spPr>
        <p:txBody>
          <a:bodyPr wrap="square" lIns="0" tIns="0" rIns="0" bIns="0" rtlCol="0" anchor="t"/>
          <a:lstStyle/>
          <a:p>
            <a:pPr marL="0" indent="0">
              <a:buNone/>
            </a:pPr>
            <a:r>
              <a:rPr lang="en-US" sz="1700" b="1" dirty="0">
                <a:solidFill>
                  <a:schemeClr val="tx2"/>
                </a:solidFill>
              </a:rPr>
              <a:t>Payment</a:t>
            </a:r>
            <a:endParaRPr lang="en-US" sz="1700" dirty="0"/>
          </a:p>
        </p:txBody>
      </p:sp>
      <p:sp>
        <p:nvSpPr>
          <p:cNvPr id="14" name="Text 12"/>
          <p:cNvSpPr txBox="1"/>
          <p:nvPr/>
        </p:nvSpPr>
        <p:spPr>
          <a:xfrm>
            <a:off x="3566160" y="3264408"/>
            <a:ext cx="4572000" cy="731520"/>
          </a:xfrm>
          <a:prstGeom prst="rect">
            <a:avLst/>
          </a:prstGeom>
          <a:noFill/>
          <a:ln/>
        </p:spPr>
        <p:txBody>
          <a:bodyPr wrap="square" lIns="0" tIns="0" rIns="0" bIns="0" rtlCol="0" anchor="t"/>
          <a:lstStyle/>
          <a:p>
            <a:pPr marL="0" indent="0">
              <a:buNone/>
            </a:pPr>
            <a:r>
              <a:rPr lang="en-US" sz="1400" dirty="0">
                <a:solidFill>
                  <a:schemeClr val="tx1"/>
                </a:solidFill>
              </a:rPr>
              <a:t>charge once per order (UNIQUE order_id), outbox PaymentCompleted / PaymentFailed</a:t>
            </a:r>
            <a:endParaRPr lang="en-US" sz="1400" dirty="0"/>
          </a:p>
        </p:txBody>
      </p:sp>
      <p:sp>
        <p:nvSpPr>
          <p:cNvPr id="15" name="Shape 13"/>
          <p:cNvSpPr/>
          <p:nvPr/>
        </p:nvSpPr>
        <p:spPr>
          <a:xfrm>
            <a:off x="548640" y="4114800"/>
            <a:ext cx="457200" cy="457200"/>
          </a:xfrm>
          <a:prstGeom prst="ellipse">
            <a:avLst/>
          </a:prstGeom>
          <a:solidFill>
            <a:schemeClr val="accent2"/>
          </a:solidFill>
          <a:ln w="12700">
            <a:solidFill>
              <a:schemeClr val="accent2"/>
            </a:solidFill>
            <a:prstDash val="solid"/>
          </a:ln>
        </p:spPr>
      </p:sp>
      <p:sp>
        <p:nvSpPr>
          <p:cNvPr id="16" name="Text 14"/>
          <p:cNvSpPr txBox="1"/>
          <p:nvPr/>
        </p:nvSpPr>
        <p:spPr>
          <a:xfrm>
            <a:off x="548640" y="411480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7" name="Text 15"/>
          <p:cNvSpPr txBox="1"/>
          <p:nvPr/>
        </p:nvSpPr>
        <p:spPr>
          <a:xfrm>
            <a:off x="1188720" y="4133088"/>
            <a:ext cx="2377440" cy="411480"/>
          </a:xfrm>
          <a:prstGeom prst="rect">
            <a:avLst/>
          </a:prstGeom>
          <a:noFill/>
          <a:ln/>
        </p:spPr>
        <p:txBody>
          <a:bodyPr wrap="square" lIns="0" tIns="0" rIns="0" bIns="0" rtlCol="0" anchor="t"/>
          <a:lstStyle/>
          <a:p>
            <a:pPr marL="0" indent="0">
              <a:buNone/>
            </a:pPr>
            <a:r>
              <a:rPr lang="en-US" sz="1700" b="1" dirty="0">
                <a:solidFill>
                  <a:schemeClr val="tx2"/>
                </a:solidFill>
              </a:rPr>
              <a:t>Order</a:t>
            </a:r>
            <a:endParaRPr lang="en-US" sz="1700" dirty="0"/>
          </a:p>
        </p:txBody>
      </p:sp>
      <p:sp>
        <p:nvSpPr>
          <p:cNvPr id="18" name="Text 16"/>
          <p:cNvSpPr txBox="1"/>
          <p:nvPr/>
        </p:nvSpPr>
        <p:spPr>
          <a:xfrm>
            <a:off x="3566160" y="4133088"/>
            <a:ext cx="4572000" cy="731520"/>
          </a:xfrm>
          <a:prstGeom prst="rect">
            <a:avLst/>
          </a:prstGeom>
          <a:noFill/>
          <a:ln/>
        </p:spPr>
        <p:txBody>
          <a:bodyPr wrap="square" lIns="0" tIns="0" rIns="0" bIns="0" rtlCol="0" anchor="t"/>
          <a:lstStyle/>
          <a:p>
            <a:pPr marL="0" indent="0">
              <a:buNone/>
            </a:pPr>
            <a:r>
              <a:rPr lang="en-US" sz="1400" dirty="0">
                <a:solidFill>
                  <a:schemeClr val="tx1"/>
                </a:solidFill>
              </a:rPr>
              <a:t>PENDING → CONFIRMED, or → CANCELLED; outbox OrderConfirmed / OrderCancelled</a:t>
            </a:r>
            <a:endParaRPr lang="en-US" sz="1400" dirty="0"/>
          </a:p>
        </p:txBody>
      </p:sp>
      <p:sp>
        <p:nvSpPr>
          <p:cNvPr id="19" name="Shape 17"/>
          <p:cNvSpPr/>
          <p:nvPr/>
        </p:nvSpPr>
        <p:spPr>
          <a:xfrm>
            <a:off x="548640" y="4983480"/>
            <a:ext cx="457200" cy="457200"/>
          </a:xfrm>
          <a:prstGeom prst="ellipse">
            <a:avLst/>
          </a:prstGeom>
          <a:solidFill>
            <a:schemeClr val="accent2"/>
          </a:solidFill>
          <a:ln w="12700">
            <a:solidFill>
              <a:schemeClr val="accent2"/>
            </a:solidFill>
            <a:prstDash val="solid"/>
          </a:ln>
        </p:spPr>
      </p:sp>
      <p:sp>
        <p:nvSpPr>
          <p:cNvPr id="20" name="Text 18"/>
          <p:cNvSpPr txBox="1"/>
          <p:nvPr/>
        </p:nvSpPr>
        <p:spPr>
          <a:xfrm>
            <a:off x="548640" y="498348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1" name="Text 19"/>
          <p:cNvSpPr txBox="1"/>
          <p:nvPr/>
        </p:nvSpPr>
        <p:spPr>
          <a:xfrm>
            <a:off x="1188720" y="5001768"/>
            <a:ext cx="2377440" cy="411480"/>
          </a:xfrm>
          <a:prstGeom prst="rect">
            <a:avLst/>
          </a:prstGeom>
          <a:noFill/>
          <a:ln/>
        </p:spPr>
        <p:txBody>
          <a:bodyPr wrap="square" lIns="0" tIns="0" rIns="0" bIns="0" rtlCol="0" anchor="t"/>
          <a:lstStyle/>
          <a:p>
            <a:pPr marL="0" indent="0">
              <a:buNone/>
            </a:pPr>
            <a:r>
              <a:rPr lang="en-US" sz="1700" b="1" dirty="0">
                <a:solidFill>
                  <a:schemeClr val="tx2"/>
                </a:solidFill>
              </a:rPr>
              <a:t>Inventory · Notification</a:t>
            </a:r>
            <a:endParaRPr lang="en-US" sz="1700" dirty="0"/>
          </a:p>
        </p:txBody>
      </p:sp>
      <p:sp>
        <p:nvSpPr>
          <p:cNvPr id="22" name="Text 20"/>
          <p:cNvSpPr txBox="1"/>
          <p:nvPr/>
        </p:nvSpPr>
        <p:spPr>
          <a:xfrm>
            <a:off x="3566160" y="5001768"/>
            <a:ext cx="4572000" cy="731520"/>
          </a:xfrm>
          <a:prstGeom prst="rect">
            <a:avLst/>
          </a:prstGeom>
          <a:noFill/>
          <a:ln/>
        </p:spPr>
        <p:txBody>
          <a:bodyPr wrap="square" lIns="0" tIns="0" rIns="0" bIns="0" rtlCol="0" anchor="t"/>
          <a:lstStyle/>
          <a:p>
            <a:pPr marL="0" indent="0">
              <a:buNone/>
            </a:pPr>
            <a:r>
              <a:rPr lang="en-US" sz="1400" dirty="0">
                <a:solidFill>
                  <a:schemeClr val="tx1"/>
                </a:solidFill>
              </a:rPr>
              <a:t>consume or release the stock; tell the customer</a:t>
            </a:r>
            <a:endParaRPr lang="en-US" sz="1400" dirty="0"/>
          </a:p>
        </p:txBody>
      </p:sp>
      <p:sp>
        <p:nvSpPr>
          <p:cNvPr id="23" name="Shape 21"/>
          <p:cNvSpPr/>
          <p:nvPr/>
        </p:nvSpPr>
        <p:spPr>
          <a:xfrm>
            <a:off x="8503920" y="1417320"/>
            <a:ext cx="3108960" cy="4297680"/>
          </a:xfrm>
          <a:prstGeom prst="roundRect">
            <a:avLst>
              <a:gd name="adj" fmla="val 2353"/>
            </a:avLst>
          </a:prstGeom>
          <a:solidFill>
            <a:schemeClr val="bg2"/>
          </a:solidFill>
          <a:ln w="12700">
            <a:solidFill>
              <a:schemeClr val="bg2"/>
            </a:solidFill>
            <a:prstDash val="solid"/>
          </a:ln>
        </p:spPr>
      </p:sp>
      <p:sp>
        <p:nvSpPr>
          <p:cNvPr id="24" name="Text 22"/>
          <p:cNvSpPr txBox="1"/>
          <p:nvPr/>
        </p:nvSpPr>
        <p:spPr>
          <a:xfrm>
            <a:off x="8732520" y="1600200"/>
            <a:ext cx="2651760" cy="365760"/>
          </a:xfrm>
          <a:prstGeom prst="rect">
            <a:avLst/>
          </a:prstGeom>
          <a:noFill/>
          <a:ln/>
        </p:spPr>
        <p:txBody>
          <a:bodyPr wrap="square" lIns="0" tIns="0" rIns="0" bIns="0" rtlCol="0" anchor="t"/>
          <a:lstStyle/>
          <a:p>
            <a:pPr marL="0" indent="0">
              <a:buNone/>
            </a:pPr>
            <a:r>
              <a:rPr lang="en-US" sz="1800" b="1" dirty="0">
                <a:solidFill>
                  <a:schemeClr val="tx2"/>
                </a:solidFill>
              </a:rPr>
              <a:t>Why this shape</a:t>
            </a:r>
            <a:endParaRPr lang="en-US" sz="1800" dirty="0"/>
          </a:p>
        </p:txBody>
      </p:sp>
      <p:sp>
        <p:nvSpPr>
          <p:cNvPr id="25" name="Text 23"/>
          <p:cNvSpPr txBox="1"/>
          <p:nvPr/>
        </p:nvSpPr>
        <p:spPr>
          <a:xfrm>
            <a:off x="8732520" y="2057400"/>
            <a:ext cx="269748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3 participants in a line, no branching → no orchestrator to keep alive (Decision 5-1)</a:t>
            </a:r>
            <a:endParaRPr lang="en-US" sz="1400" dirty="0"/>
          </a:p>
          <a:p>
            <a:pPr marL="342900" indent="-342900">
              <a:spcAft>
                <a:spcPts val="800"/>
              </a:spcAft>
              <a:buSzPct val="100000"/>
              <a:buChar char="•"/>
            </a:pPr>
            <a:r>
              <a:rPr lang="en-US" sz="1400" dirty="0">
                <a:solidFill>
                  <a:schemeClr val="tx1"/>
                </a:solidFill>
              </a:rPr>
              <a:t>Outbox: an order and its event are never split; Kafka down = event waits</a:t>
            </a:r>
            <a:endParaRPr lang="en-US" sz="1400" dirty="0"/>
          </a:p>
          <a:p>
            <a:pPr marL="342900" indent="-342900">
              <a:spcAft>
                <a:spcPts val="800"/>
              </a:spcAft>
              <a:buSzPct val="100000"/>
              <a:buChar char="•"/>
            </a:pPr>
            <a:r>
              <a:rPr lang="en-US" sz="1400" dirty="0">
                <a:solidFill>
                  <a:schemeClr val="tx1"/>
                </a:solidFill>
              </a:rPr>
              <a:t>At-least-once + processed_event dedup in the same transaction</a:t>
            </a:r>
            <a:endParaRPr lang="en-US" sz="1400" dirty="0"/>
          </a:p>
          <a:p>
            <a:pPr marL="342900" indent="-342900">
              <a:spcAft>
                <a:spcPts val="800"/>
              </a:spcAft>
              <a:buSzPct val="100000"/>
              <a:buChar char="•"/>
            </a:pPr>
            <a:r>
              <a:rPr lang="en-US" sz="1400" dirty="0">
                <a:solidFill>
                  <a:schemeClr val="tx1"/>
                </a:solidFill>
              </a:rPr>
              <a:t>Switch to orchestration if a branching rule appears</a:t>
            </a:r>
            <a:endParaRPr lang="en-US" sz="1400" dirty="0"/>
          </a:p>
        </p:txBody>
      </p:sp>
      <p:sp>
        <p:nvSpPr>
          <p:cNvPr id="26"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
        <p:nvSpPr>
          <p:cNvPr id="27" name="Presenter tag">
            <a:extLst>
              <a:ext uri="{FF2B5EF4-FFF2-40B4-BE49-F238E27FC236}">
                <a16:creationId xmlns:a16="http://schemas.microsoft.com/office/drawing/2014/main" id="{A543E5EC-F799-4E3E-99B0-88CD5714C113}"/>
              </a:ext>
            </a:extLst>
          </p:cNvPr>
          <p:cNvSpPr/>
          <p:nvPr/>
        </p:nvSpPr>
        <p:spPr>
          <a:xfrm>
            <a:off x="8585200" y="6375400"/>
            <a:ext cx="2413000" cy="304800"/>
          </a:xfrm>
          <a:prstGeom prst="roundRect">
            <a:avLst/>
          </a:prstGeom>
          <a:solidFill>
            <a:srgbClr val="F2A5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n-US" sz="1100" b="1">
                <a:solidFill>
                  <a:srgbClr val="0D3B4A"/>
                </a:solidFill>
                <a:latin typeface="Calibri" panose="020F0502020204030204" pitchFamily="34" charset="0"/>
              </a:rPr>
              <a:t>Presenter: Mohammed (B)</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buNone/>
            </a:pPr>
            <a:r>
              <a:rPr lang="en-US" sz="3200" b="1" dirty="0">
                <a:solidFill>
                  <a:schemeClr val="tx2"/>
                </a:solidFill>
              </a:rPr>
              <a:t>Every failure has a defined outcome</a:t>
            </a:r>
            <a:endParaRPr lang="en-US" sz="3200" dirty="0"/>
          </a:p>
        </p:txBody>
      </p:sp>
      <p:sp>
        <p:nvSpPr>
          <p:cNvPr id="3" name="Shape 1"/>
          <p:cNvSpPr/>
          <p:nvPr/>
        </p:nvSpPr>
        <p:spPr>
          <a:xfrm>
            <a:off x="548640" y="1417320"/>
            <a:ext cx="3520440" cy="2148840"/>
          </a:xfrm>
          <a:prstGeom prst="roundRect">
            <a:avLst>
              <a:gd name="adj" fmla="val 3404"/>
            </a:avLst>
          </a:prstGeom>
          <a:solidFill>
            <a:schemeClr val="bg2"/>
          </a:solidFill>
          <a:ln w="12700">
            <a:solidFill>
              <a:schemeClr val="bg2"/>
            </a:solidFill>
            <a:prstDash val="solid"/>
          </a:ln>
        </p:spPr>
      </p:sp>
      <p:sp>
        <p:nvSpPr>
          <p:cNvPr id="4" name="Shape 2"/>
          <p:cNvSpPr/>
          <p:nvPr/>
        </p:nvSpPr>
        <p:spPr>
          <a:xfrm>
            <a:off x="777240" y="164592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77240" y="164592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6" name="Text 4"/>
          <p:cNvSpPr txBox="1"/>
          <p:nvPr/>
        </p:nvSpPr>
        <p:spPr>
          <a:xfrm>
            <a:off x="1371600" y="1691640"/>
            <a:ext cx="2560320" cy="411480"/>
          </a:xfrm>
          <a:prstGeom prst="rect">
            <a:avLst/>
          </a:prstGeom>
          <a:noFill/>
          <a:ln/>
        </p:spPr>
        <p:txBody>
          <a:bodyPr wrap="square" lIns="0" tIns="0" rIns="0" bIns="0" rtlCol="0" anchor="t"/>
          <a:lstStyle/>
          <a:p>
            <a:pPr marL="0" indent="0">
              <a:buNone/>
            </a:pPr>
            <a:r>
              <a:rPr lang="en-US" sz="1700" b="1" dirty="0">
                <a:solidFill>
                  <a:schemeClr val="tx2"/>
                </a:solidFill>
              </a:rPr>
              <a:t>No stock</a:t>
            </a:r>
            <a:endParaRPr lang="en-US" sz="1700" dirty="0"/>
          </a:p>
        </p:txBody>
      </p:sp>
      <p:sp>
        <p:nvSpPr>
          <p:cNvPr id="7" name="Text 5"/>
          <p:cNvSpPr txBox="1"/>
          <p:nvPr/>
        </p:nvSpPr>
        <p:spPr>
          <a:xfrm>
            <a:off x="777240" y="2286000"/>
            <a:ext cx="3108960" cy="1188720"/>
          </a:xfrm>
          <a:prstGeom prst="rect">
            <a:avLst/>
          </a:prstGeom>
          <a:noFill/>
          <a:ln/>
        </p:spPr>
        <p:txBody>
          <a:bodyPr wrap="square" lIns="0" tIns="0" rIns="0" bIns="0" rtlCol="0" anchor="t"/>
          <a:lstStyle/>
          <a:p>
            <a:pPr marL="0" indent="0">
              <a:buNone/>
            </a:pPr>
            <a:r>
              <a:rPr lang="en-US" sz="1400" dirty="0">
                <a:solidFill>
                  <a:schemeClr val="tx1"/>
                </a:solidFill>
              </a:rPr>
              <a:t>409 OUT_OF_STOCK before any row exists; payment never touched. Not counted by the circuit breaker.</a:t>
            </a:r>
            <a:endParaRPr lang="en-US" sz="1400" dirty="0"/>
          </a:p>
        </p:txBody>
      </p:sp>
      <p:sp>
        <p:nvSpPr>
          <p:cNvPr id="8" name="Shape 6"/>
          <p:cNvSpPr/>
          <p:nvPr/>
        </p:nvSpPr>
        <p:spPr>
          <a:xfrm>
            <a:off x="4297680" y="1417320"/>
            <a:ext cx="3520440" cy="2148840"/>
          </a:xfrm>
          <a:prstGeom prst="roundRect">
            <a:avLst>
              <a:gd name="adj" fmla="val 3404"/>
            </a:avLst>
          </a:prstGeom>
          <a:solidFill>
            <a:schemeClr val="bg2"/>
          </a:solidFill>
          <a:ln w="12700">
            <a:solidFill>
              <a:schemeClr val="bg2"/>
            </a:solidFill>
            <a:prstDash val="solid"/>
          </a:ln>
        </p:spPr>
      </p:sp>
      <p:sp>
        <p:nvSpPr>
          <p:cNvPr id="9" name="Shape 7"/>
          <p:cNvSpPr/>
          <p:nvPr/>
        </p:nvSpPr>
        <p:spPr>
          <a:xfrm>
            <a:off x="4526280" y="164592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4526280" y="164592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11" name="Text 9"/>
          <p:cNvSpPr txBox="1"/>
          <p:nvPr/>
        </p:nvSpPr>
        <p:spPr>
          <a:xfrm>
            <a:off x="5120640" y="1691640"/>
            <a:ext cx="2560320" cy="411480"/>
          </a:xfrm>
          <a:prstGeom prst="rect">
            <a:avLst/>
          </a:prstGeom>
          <a:noFill/>
          <a:ln/>
        </p:spPr>
        <p:txBody>
          <a:bodyPr wrap="square" lIns="0" tIns="0" rIns="0" bIns="0" rtlCol="0" anchor="t"/>
          <a:lstStyle/>
          <a:p>
            <a:pPr marL="0" indent="0">
              <a:buNone/>
            </a:pPr>
            <a:r>
              <a:rPr lang="en-US" sz="1700" b="1" dirty="0">
                <a:solidFill>
                  <a:schemeClr val="tx2"/>
                </a:solidFill>
              </a:rPr>
              <a:t>Inventory slow or down</a:t>
            </a:r>
            <a:endParaRPr lang="en-US" sz="1700" dirty="0"/>
          </a:p>
        </p:txBody>
      </p:sp>
      <p:sp>
        <p:nvSpPr>
          <p:cNvPr id="12" name="Text 10"/>
          <p:cNvSpPr txBox="1"/>
          <p:nvPr/>
        </p:nvSpPr>
        <p:spPr>
          <a:xfrm>
            <a:off x="4526280" y="2286000"/>
            <a:ext cx="3108960" cy="1188720"/>
          </a:xfrm>
          <a:prstGeom prst="rect">
            <a:avLst/>
          </a:prstGeom>
          <a:noFill/>
          <a:ln/>
        </p:spPr>
        <p:txBody>
          <a:bodyPr wrap="square" lIns="0" tIns="0" rIns="0" bIns="0" rtlCol="0" anchor="t"/>
          <a:lstStyle/>
          <a:p>
            <a:pPr marL="0" indent="0">
              <a:buNone/>
            </a:pPr>
            <a:r>
              <a:rPr lang="en-US" sz="1400" dirty="0">
                <a:solidFill>
                  <a:schemeClr val="tx1"/>
                </a:solidFill>
              </a:rPr>
              <a:t>2 s timeout, one retry, circuit breaker, bulkhead → 503 fast; no half-built order.</a:t>
            </a:r>
            <a:endParaRPr lang="en-US" sz="1400" dirty="0"/>
          </a:p>
        </p:txBody>
      </p:sp>
      <p:sp>
        <p:nvSpPr>
          <p:cNvPr id="13" name="Shape 11"/>
          <p:cNvSpPr/>
          <p:nvPr/>
        </p:nvSpPr>
        <p:spPr>
          <a:xfrm>
            <a:off x="8046720" y="1417320"/>
            <a:ext cx="3520440" cy="2148840"/>
          </a:xfrm>
          <a:prstGeom prst="roundRect">
            <a:avLst>
              <a:gd name="adj" fmla="val 3404"/>
            </a:avLst>
          </a:prstGeom>
          <a:solidFill>
            <a:schemeClr val="bg2"/>
          </a:solidFill>
          <a:ln w="12700">
            <a:solidFill>
              <a:schemeClr val="bg2"/>
            </a:solidFill>
            <a:prstDash val="solid"/>
          </a:ln>
        </p:spPr>
      </p:sp>
      <p:sp>
        <p:nvSpPr>
          <p:cNvPr id="14" name="Shape 12"/>
          <p:cNvSpPr/>
          <p:nvPr/>
        </p:nvSpPr>
        <p:spPr>
          <a:xfrm>
            <a:off x="8275320" y="1645920"/>
            <a:ext cx="457200" cy="457200"/>
          </a:xfrm>
          <a:prstGeom prst="ellipse">
            <a:avLst/>
          </a:prstGeom>
          <a:solidFill>
            <a:schemeClr val="accent3"/>
          </a:solidFill>
          <a:ln w="12700">
            <a:solidFill>
              <a:schemeClr val="accent3"/>
            </a:solidFill>
            <a:prstDash val="solid"/>
          </a:ln>
        </p:spPr>
      </p:sp>
      <p:sp>
        <p:nvSpPr>
          <p:cNvPr id="15" name="Text 13"/>
          <p:cNvSpPr txBox="1"/>
          <p:nvPr/>
        </p:nvSpPr>
        <p:spPr>
          <a:xfrm>
            <a:off x="8275320" y="164592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16" name="Text 14"/>
          <p:cNvSpPr txBox="1"/>
          <p:nvPr/>
        </p:nvSpPr>
        <p:spPr>
          <a:xfrm>
            <a:off x="8869680" y="1691640"/>
            <a:ext cx="2560320" cy="411480"/>
          </a:xfrm>
          <a:prstGeom prst="rect">
            <a:avLst/>
          </a:prstGeom>
          <a:noFill/>
          <a:ln/>
        </p:spPr>
        <p:txBody>
          <a:bodyPr wrap="square" lIns="0" tIns="0" rIns="0" bIns="0" rtlCol="0" anchor="t"/>
          <a:lstStyle/>
          <a:p>
            <a:pPr marL="0" indent="0">
              <a:buNone/>
            </a:pPr>
            <a:r>
              <a:rPr lang="en-US" sz="1700" b="1" dirty="0">
                <a:solidFill>
                  <a:schemeClr val="tx2"/>
                </a:solidFill>
              </a:rPr>
              <a:t>Payment declined</a:t>
            </a:r>
            <a:endParaRPr lang="en-US" sz="1700" dirty="0"/>
          </a:p>
        </p:txBody>
      </p:sp>
      <p:sp>
        <p:nvSpPr>
          <p:cNvPr id="17" name="Text 15"/>
          <p:cNvSpPr txBox="1"/>
          <p:nvPr/>
        </p:nvSpPr>
        <p:spPr>
          <a:xfrm>
            <a:off x="8275320" y="2286000"/>
            <a:ext cx="3108960" cy="1188720"/>
          </a:xfrm>
          <a:prstGeom prst="rect">
            <a:avLst/>
          </a:prstGeom>
          <a:noFill/>
          <a:ln/>
        </p:spPr>
        <p:txBody>
          <a:bodyPr wrap="square" lIns="0" tIns="0" rIns="0" bIns="0" rtlCol="0" anchor="t"/>
          <a:lstStyle/>
          <a:p>
            <a:pPr marL="0" indent="0">
              <a:buNone/>
            </a:pPr>
            <a:r>
              <a:rPr lang="en-US" sz="1400" dirty="0">
                <a:solidFill>
                  <a:schemeClr val="tx1"/>
                </a:solidFill>
              </a:rPr>
              <a:t>PaymentFailed → stock released, order CANCELLED, customer notified (compensation).</a:t>
            </a:r>
            <a:endParaRPr lang="en-US" sz="1400" dirty="0"/>
          </a:p>
        </p:txBody>
      </p:sp>
      <p:sp>
        <p:nvSpPr>
          <p:cNvPr id="18" name="Shape 16"/>
          <p:cNvSpPr/>
          <p:nvPr/>
        </p:nvSpPr>
        <p:spPr>
          <a:xfrm>
            <a:off x="548640" y="3794760"/>
            <a:ext cx="3520440" cy="2148840"/>
          </a:xfrm>
          <a:prstGeom prst="roundRect">
            <a:avLst>
              <a:gd name="adj" fmla="val 3404"/>
            </a:avLst>
          </a:prstGeom>
          <a:solidFill>
            <a:schemeClr val="bg2"/>
          </a:solidFill>
          <a:ln w="12700">
            <a:solidFill>
              <a:schemeClr val="bg2"/>
            </a:solidFill>
            <a:prstDash val="solid"/>
          </a:ln>
        </p:spPr>
      </p:sp>
      <p:sp>
        <p:nvSpPr>
          <p:cNvPr id="19" name="Shape 17"/>
          <p:cNvSpPr/>
          <p:nvPr/>
        </p:nvSpPr>
        <p:spPr>
          <a:xfrm>
            <a:off x="777240" y="402336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777240" y="40233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21" name="Text 19"/>
          <p:cNvSpPr txBox="1"/>
          <p:nvPr/>
        </p:nvSpPr>
        <p:spPr>
          <a:xfrm>
            <a:off x="1371600" y="4069080"/>
            <a:ext cx="2560320" cy="411480"/>
          </a:xfrm>
          <a:prstGeom prst="rect">
            <a:avLst/>
          </a:prstGeom>
          <a:noFill/>
          <a:ln/>
        </p:spPr>
        <p:txBody>
          <a:bodyPr wrap="square" lIns="0" tIns="0" rIns="0" bIns="0" rtlCol="0" anchor="t"/>
          <a:lstStyle/>
          <a:p>
            <a:pPr marL="0" indent="0">
              <a:buNone/>
            </a:pPr>
            <a:r>
              <a:rPr lang="en-US" sz="1700" b="1" dirty="0">
                <a:solidFill>
                  <a:schemeClr val="tx2"/>
                </a:solidFill>
              </a:rPr>
              <a:t>Payment down</a:t>
            </a:r>
            <a:endParaRPr lang="en-US" sz="1700" dirty="0"/>
          </a:p>
        </p:txBody>
      </p:sp>
      <p:sp>
        <p:nvSpPr>
          <p:cNvPr id="22" name="Text 20"/>
          <p:cNvSpPr txBox="1"/>
          <p:nvPr/>
        </p:nvSpPr>
        <p:spPr>
          <a:xfrm>
            <a:off x="777240" y="4663440"/>
            <a:ext cx="3108960" cy="1188720"/>
          </a:xfrm>
          <a:prstGeom prst="rect">
            <a:avLst/>
          </a:prstGeom>
          <a:noFill/>
          <a:ln/>
        </p:spPr>
        <p:txBody>
          <a:bodyPr wrap="square" lIns="0" tIns="0" rIns="0" bIns="0" rtlCol="0" anchor="t"/>
          <a:lstStyle/>
          <a:p>
            <a:pPr marL="0" indent="0">
              <a:buNone/>
            </a:pPr>
            <a:r>
              <a:rPr lang="en-US" sz="1400" dirty="0">
                <a:solidFill>
                  <a:schemeClr val="tx1"/>
                </a:solidFill>
              </a:rPr>
              <a:t>Events wait in Kafka; order stays PENDING and completes when payment returns (NFR-01).</a:t>
            </a:r>
            <a:endParaRPr lang="en-US" sz="1400" dirty="0"/>
          </a:p>
        </p:txBody>
      </p:sp>
      <p:sp>
        <p:nvSpPr>
          <p:cNvPr id="23" name="Shape 21"/>
          <p:cNvSpPr/>
          <p:nvPr/>
        </p:nvSpPr>
        <p:spPr>
          <a:xfrm>
            <a:off x="4297680" y="3794760"/>
            <a:ext cx="3520440" cy="2148840"/>
          </a:xfrm>
          <a:prstGeom prst="roundRect">
            <a:avLst>
              <a:gd name="adj" fmla="val 3404"/>
            </a:avLst>
          </a:prstGeom>
          <a:solidFill>
            <a:schemeClr val="bg2"/>
          </a:solidFill>
          <a:ln w="12700">
            <a:solidFill>
              <a:schemeClr val="bg2"/>
            </a:solidFill>
            <a:prstDash val="solid"/>
          </a:ln>
        </p:spPr>
      </p:sp>
      <p:sp>
        <p:nvSpPr>
          <p:cNvPr id="24" name="Shape 22"/>
          <p:cNvSpPr/>
          <p:nvPr/>
        </p:nvSpPr>
        <p:spPr>
          <a:xfrm>
            <a:off x="4526280" y="4023360"/>
            <a:ext cx="457200" cy="457200"/>
          </a:xfrm>
          <a:prstGeom prst="ellipse">
            <a:avLst/>
          </a:prstGeom>
          <a:solidFill>
            <a:schemeClr val="accent3"/>
          </a:solidFill>
          <a:ln w="12700">
            <a:solidFill>
              <a:schemeClr val="accent3"/>
            </a:solidFill>
            <a:prstDash val="solid"/>
          </a:ln>
        </p:spPr>
      </p:sp>
      <p:sp>
        <p:nvSpPr>
          <p:cNvPr id="25" name="Text 23"/>
          <p:cNvSpPr txBox="1"/>
          <p:nvPr/>
        </p:nvSpPr>
        <p:spPr>
          <a:xfrm>
            <a:off x="4526280" y="40233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26" name="Text 24"/>
          <p:cNvSpPr txBox="1"/>
          <p:nvPr/>
        </p:nvSpPr>
        <p:spPr>
          <a:xfrm>
            <a:off x="5120640" y="4069080"/>
            <a:ext cx="2560320" cy="411480"/>
          </a:xfrm>
          <a:prstGeom prst="rect">
            <a:avLst/>
          </a:prstGeom>
          <a:noFill/>
          <a:ln/>
        </p:spPr>
        <p:txBody>
          <a:bodyPr wrap="square" lIns="0" tIns="0" rIns="0" bIns="0" rtlCol="0" anchor="t"/>
          <a:lstStyle/>
          <a:p>
            <a:pPr marL="0" indent="0">
              <a:buNone/>
            </a:pPr>
            <a:r>
              <a:rPr lang="en-US" sz="1700" b="1" dirty="0">
                <a:solidFill>
                  <a:schemeClr val="tx2"/>
                </a:solidFill>
              </a:rPr>
              <a:t>A consumer keeps failing</a:t>
            </a:r>
            <a:endParaRPr lang="en-US" sz="1700" dirty="0"/>
          </a:p>
        </p:txBody>
      </p:sp>
      <p:sp>
        <p:nvSpPr>
          <p:cNvPr id="27" name="Text 25"/>
          <p:cNvSpPr txBox="1"/>
          <p:nvPr/>
        </p:nvSpPr>
        <p:spPr>
          <a:xfrm>
            <a:off x="4526280" y="4663440"/>
            <a:ext cx="3108960" cy="1188720"/>
          </a:xfrm>
          <a:prstGeom prst="rect">
            <a:avLst/>
          </a:prstGeom>
          <a:noFill/>
          <a:ln/>
        </p:spPr>
        <p:txBody>
          <a:bodyPr wrap="square" lIns="0" tIns="0" rIns="0" bIns="0" rtlCol="0" anchor="t"/>
          <a:lstStyle/>
          <a:p>
            <a:pPr marL="0" indent="0">
              <a:buNone/>
            </a:pPr>
            <a:r>
              <a:rPr lang="en-US" sz="1400" dirty="0">
                <a:solidFill>
                  <a:schemeClr val="tx1"/>
                </a:solidFill>
              </a:rPr>
              <a:t>3 retries, then &lt;topic&gt;.DLT + ALERT log; the partition keeps moving (NFR-10).</a:t>
            </a:r>
            <a:endParaRPr lang="en-US" sz="1400" dirty="0"/>
          </a:p>
        </p:txBody>
      </p:sp>
      <p:sp>
        <p:nvSpPr>
          <p:cNvPr id="28" name="Shape 26"/>
          <p:cNvSpPr/>
          <p:nvPr/>
        </p:nvSpPr>
        <p:spPr>
          <a:xfrm>
            <a:off x="8046720" y="3794760"/>
            <a:ext cx="3520440" cy="2148840"/>
          </a:xfrm>
          <a:prstGeom prst="roundRect">
            <a:avLst>
              <a:gd name="adj" fmla="val 3404"/>
            </a:avLst>
          </a:prstGeom>
          <a:solidFill>
            <a:schemeClr val="bg2"/>
          </a:solidFill>
          <a:ln w="12700">
            <a:solidFill>
              <a:schemeClr val="bg2"/>
            </a:solidFill>
            <a:prstDash val="solid"/>
          </a:ln>
        </p:spPr>
      </p:sp>
      <p:sp>
        <p:nvSpPr>
          <p:cNvPr id="29" name="Shape 27"/>
          <p:cNvSpPr/>
          <p:nvPr/>
        </p:nvSpPr>
        <p:spPr>
          <a:xfrm>
            <a:off x="8275320" y="4023360"/>
            <a:ext cx="457200" cy="457200"/>
          </a:xfrm>
          <a:prstGeom prst="ellipse">
            <a:avLst/>
          </a:prstGeom>
          <a:solidFill>
            <a:schemeClr val="accent1"/>
          </a:solidFill>
          <a:ln w="12700">
            <a:solidFill>
              <a:schemeClr val="accent1"/>
            </a:solidFill>
            <a:prstDash val="solid"/>
          </a:ln>
        </p:spPr>
      </p:sp>
      <p:sp>
        <p:nvSpPr>
          <p:cNvPr id="30" name="Text 28"/>
          <p:cNvSpPr txBox="1"/>
          <p:nvPr/>
        </p:nvSpPr>
        <p:spPr>
          <a:xfrm>
            <a:off x="8275320" y="40233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31" name="Text 29"/>
          <p:cNvSpPr txBox="1"/>
          <p:nvPr/>
        </p:nvSpPr>
        <p:spPr>
          <a:xfrm>
            <a:off x="8869680" y="4069080"/>
            <a:ext cx="2560320" cy="411480"/>
          </a:xfrm>
          <a:prstGeom prst="rect">
            <a:avLst/>
          </a:prstGeom>
          <a:noFill/>
          <a:ln/>
        </p:spPr>
        <p:txBody>
          <a:bodyPr wrap="square" lIns="0" tIns="0" rIns="0" bIns="0" rtlCol="0" anchor="t"/>
          <a:lstStyle/>
          <a:p>
            <a:pPr marL="0" indent="0">
              <a:buNone/>
            </a:pPr>
            <a:r>
              <a:rPr lang="en-US" sz="1700" b="1" dirty="0">
                <a:solidFill>
                  <a:schemeClr val="tx2"/>
                </a:solidFill>
              </a:rPr>
              <a:t>Saga stuck / cancel missed</a:t>
            </a:r>
            <a:endParaRPr lang="en-US" sz="1700" dirty="0"/>
          </a:p>
        </p:txBody>
      </p:sp>
      <p:sp>
        <p:nvSpPr>
          <p:cNvPr id="32" name="Text 30"/>
          <p:cNvSpPr txBox="1"/>
          <p:nvPr/>
        </p:nvSpPr>
        <p:spPr>
          <a:xfrm>
            <a:off x="8275320" y="4663440"/>
            <a:ext cx="3108960" cy="1188720"/>
          </a:xfrm>
          <a:prstGeom prst="rect">
            <a:avLst/>
          </a:prstGeom>
          <a:noFill/>
          <a:ln/>
        </p:spPr>
        <p:txBody>
          <a:bodyPr wrap="square" lIns="0" tIns="0" rIns="0" bIns="0" rtlCol="0" anchor="t"/>
          <a:lstStyle/>
          <a:p>
            <a:pPr marL="0" indent="0">
              <a:buNone/>
            </a:pPr>
            <a:r>
              <a:rPr lang="en-US" sz="1400" dirty="0">
                <a:solidFill>
                  <a:schemeClr val="tx1"/>
                </a:solidFill>
              </a:rPr>
              <a:t>Order sweeper cancels after 10 min; inventory sweeper frees stock of cancelled orders (NFR-05).</a:t>
            </a:r>
            <a:endParaRPr lang="en-US" sz="1400" dirty="0"/>
          </a:p>
        </p:txBody>
      </p:sp>
      <p:sp>
        <p:nvSpPr>
          <p:cNvPr id="3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
        <p:nvSpPr>
          <p:cNvPr id="34" name="Presenter tag">
            <a:extLst>
              <a:ext uri="{FF2B5EF4-FFF2-40B4-BE49-F238E27FC236}">
                <a16:creationId xmlns:a16="http://schemas.microsoft.com/office/drawing/2014/main" id="{EEC8D50F-341F-4FD6-A9A6-018060D181F1}"/>
              </a:ext>
            </a:extLst>
          </p:cNvPr>
          <p:cNvSpPr/>
          <p:nvPr/>
        </p:nvSpPr>
        <p:spPr>
          <a:xfrm>
            <a:off x="8585200" y="6375400"/>
            <a:ext cx="2413000" cy="304800"/>
          </a:xfrm>
          <a:prstGeom prst="roundRect">
            <a:avLst/>
          </a:prstGeom>
          <a:solidFill>
            <a:srgbClr val="F2A5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n-US" sz="1100" b="1">
                <a:solidFill>
                  <a:srgbClr val="0D3B4A"/>
                </a:solidFill>
                <a:latin typeface="Calibri" panose="020F0502020204030204" pitchFamily="34" charset="0"/>
              </a:rPr>
              <a:t>Presenter: Mohammed (B)</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buNone/>
            </a:pPr>
            <a:r>
              <a:rPr lang="en-US" sz="3200" b="1" dirty="0">
                <a:solidFill>
                  <a:schemeClr val="tx2"/>
                </a:solidFill>
              </a:rPr>
              <a:t>Decisions we can defend</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918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566928">
                <a:tc>
                  <a:txBody>
                    <a:bodyPr/>
                    <a:lstStyle/>
                    <a:p>
                      <a:pPr marL="0" indent="0">
                        <a:buNone/>
                      </a:pPr>
                      <a:r>
                        <a:rPr lang="en-US" sz="1400" b="1" dirty="0">
                          <a:solidFill>
                            <a:srgbClr val="FFFFFF"/>
                          </a:solidFill>
                        </a:rPr>
                        <a:t>Decision</a:t>
                      </a:r>
                      <a:endParaRPr lang="en-US" sz="14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0B3C49"/>
                    </a:solidFill>
                  </a:tcPr>
                </a:tc>
                <a:tc>
                  <a:txBody>
                    <a:bodyPr/>
                    <a:lstStyle/>
                    <a:p>
                      <a:pPr marL="0" indent="0">
                        <a:buNone/>
                      </a:pPr>
                      <a:r>
                        <a:rPr lang="en-US" sz="1400" b="1" dirty="0">
                          <a:solidFill>
                            <a:srgbClr val="FFFFFF"/>
                          </a:solidFill>
                        </a:rPr>
                        <a:t>Why</a:t>
                      </a:r>
                      <a:endParaRPr lang="en-US" sz="14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0B3C49"/>
                    </a:solidFill>
                  </a:tcPr>
                </a:tc>
                <a:tc>
                  <a:txBody>
                    <a:bodyPr/>
                    <a:lstStyle/>
                    <a:p>
                      <a:pPr marL="0" indent="0">
                        <a:buNone/>
                      </a:pPr>
                      <a:r>
                        <a:rPr lang="en-US" sz="1400" b="1" dirty="0">
                          <a:solidFill>
                            <a:srgbClr val="FFFFFF"/>
                          </a:solidFill>
                        </a:rPr>
                        <a:t>Trade-off we accept</a:t>
                      </a:r>
                      <a:endParaRPr lang="en-US" sz="14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0B3C49"/>
                    </a:solidFill>
                  </a:tcPr>
                </a:tc>
                <a:extLst>
                  <a:ext uri="{0D108BD9-81ED-4DB2-BD59-A6C34878D82A}">
                    <a16:rowId xmlns:a16="http://schemas.microsoft.com/office/drawing/2014/main" val="10000"/>
                  </a:ext>
                </a:extLst>
              </a:tr>
              <a:tr h="566928">
                <a:tc>
                  <a:txBody>
                    <a:bodyPr/>
                    <a:lstStyle/>
                    <a:p>
                      <a:pPr marL="0" indent="0">
                        <a:buNone/>
                      </a:pPr>
                      <a:r>
                        <a:rPr lang="en-US" sz="1300" dirty="0">
                          <a:solidFill>
                            <a:srgbClr val="1B2A30"/>
                          </a:solidFill>
                        </a:rPr>
                        <a:t>Choreography Saga</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tc>
                  <a:txBody>
                    <a:bodyPr/>
                    <a:lstStyle/>
                    <a:p>
                      <a:pPr marL="0" indent="0">
                        <a:buNone/>
                      </a:pPr>
                      <a:r>
                        <a:rPr lang="en-US" sz="1300" dirty="0">
                          <a:solidFill>
                            <a:srgbClr val="1B2A30"/>
                          </a:solidFill>
                        </a:rPr>
                        <a:t>3 linear steps; nothing to keep alive</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tc>
                  <a:txBody>
                    <a:bodyPr/>
                    <a:lstStyle/>
                    <a:p>
                      <a:pPr marL="0" indent="0">
                        <a:buNone/>
                      </a:pPr>
                      <a:r>
                        <a:rPr lang="en-US" sz="1300" dirty="0">
                          <a:solidFill>
                            <a:srgbClr val="1B2A30"/>
                          </a:solidFill>
                        </a:rPr>
                        <a:t>flow spread over 3 services → tracing</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300" dirty="0">
                          <a:solidFill>
                            <a:srgbClr val="1B2A30"/>
                          </a:solidFill>
                        </a:rPr>
                        <a:t>Outbox in every producer</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tc>
                  <a:txBody>
                    <a:bodyPr/>
                    <a:lstStyle/>
                    <a:p>
                      <a:pPr marL="0" indent="0">
                        <a:buNone/>
                      </a:pPr>
                      <a:r>
                        <a:rPr lang="en-US" sz="1300" dirty="0">
                          <a:solidFill>
                            <a:srgbClr val="1B2A30"/>
                          </a:solidFill>
                        </a:rPr>
                        <a:t>no lost or phantom events</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tc>
                  <a:txBody>
                    <a:bodyPr/>
                    <a:lstStyle/>
                    <a:p>
                      <a:pPr marL="0" indent="0">
                        <a:buNone/>
                      </a:pPr>
                      <a:r>
                        <a:rPr lang="en-US" sz="1300" dirty="0">
                          <a:solidFill>
                            <a:srgbClr val="1B2A30"/>
                          </a:solidFill>
                        </a:rPr>
                        <a:t>at-least-once, ~500 ms poll delay</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300" dirty="0">
                          <a:solidFill>
                            <a:srgbClr val="1B2A30"/>
                          </a:solidFill>
                        </a:rPr>
                        <a:t>Release stock by outcome, not age</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tc>
                  <a:txBody>
                    <a:bodyPr/>
                    <a:lstStyle/>
                    <a:p>
                      <a:pPr marL="0" indent="0">
                        <a:buNone/>
                      </a:pPr>
                      <a:r>
                        <a:rPr lang="en-US" sz="1300" dirty="0">
                          <a:solidFill>
                            <a:srgbClr val="1B2A30"/>
                          </a:solidFill>
                        </a:rPr>
                        <a:t>age-based release oversold a slow-but-paid order</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tc>
                  <a:txBody>
                    <a:bodyPr/>
                    <a:lstStyle/>
                    <a:p>
                      <a:pPr marL="0" indent="0">
                        <a:buNone/>
                      </a:pPr>
                      <a:r>
                        <a:rPr lang="en-US" sz="1300" dirty="0">
                          <a:solidFill>
                            <a:srgbClr val="1B2A30"/>
                          </a:solidFill>
                        </a:rPr>
                        <a:t>small cancelled_order table in inventory</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300" dirty="0">
                          <a:solidFill>
                            <a:srgbClr val="1B2A30"/>
                          </a:solidFill>
                        </a:rPr>
                        <a:t>One fallback, outermost; sold-out ≠ failure</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tc>
                  <a:txBody>
                    <a:bodyPr/>
                    <a:lstStyle/>
                    <a:p>
                      <a:pPr marL="0" indent="0">
                        <a:buNone/>
                      </a:pPr>
                      <a:r>
                        <a:rPr lang="en-US" sz="1300" dirty="0">
                          <a:solidFill>
                            <a:srgbClr val="1B2A30"/>
                          </a:solidFill>
                        </a:rPr>
                        <a:t>sold-out products used to open the circuit for everyone</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tc>
                  <a:txBody>
                    <a:bodyPr/>
                    <a:lstStyle/>
                    <a:p>
                      <a:pPr marL="0" indent="0">
                        <a:buNone/>
                      </a:pPr>
                      <a:r>
                        <a:rPr lang="en-US" sz="1300" dirty="0">
                          <a:solidFill>
                            <a:srgbClr val="1B2A30"/>
                          </a:solidFill>
                        </a:rPr>
                        <a:t>a broken 'no' shows as 409s, not an open circuit</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300" dirty="0">
                          <a:solidFill>
                            <a:srgbClr val="1B2A30"/>
                          </a:solidFill>
                        </a:rPr>
                        <a:t>JWT checked at gateway AND every service</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tc>
                  <a:txBody>
                    <a:bodyPr/>
                    <a:lstStyle/>
                    <a:p>
                      <a:pPr marL="0" indent="0">
                        <a:buNone/>
                      </a:pPr>
                      <a:r>
                        <a:rPr lang="en-US" sz="1300" dirty="0">
                          <a:solidFill>
                            <a:srgbClr val="1B2A30"/>
                          </a:solidFill>
                        </a:rPr>
                        <a:t>pods are reachable inside the cluster</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tc>
                  <a:txBody>
                    <a:bodyPr/>
                    <a:lstStyle/>
                    <a:p>
                      <a:pPr marL="0" indent="0">
                        <a:buNone/>
                      </a:pPr>
                      <a:r>
                        <a:rPr lang="en-US" sz="1300" dirty="0">
                          <a:solidFill>
                            <a:srgbClr val="1B2A30"/>
                          </a:solidFill>
                        </a:rPr>
                        <a:t>signature checked twice (JWKS cached)</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300" dirty="0">
                          <a:solidFill>
                            <a:srgbClr val="1B2A30"/>
                          </a:solidFill>
                        </a:rPr>
                        <a:t>B2 inside order-service, own tables V50+</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tc>
                  <a:txBody>
                    <a:bodyPr/>
                    <a:lstStyle/>
                    <a:p>
                      <a:pPr marL="0" indent="0">
                        <a:buNone/>
                      </a:pPr>
                      <a:r>
                        <a:rPr lang="en-US" sz="1300" dirty="0">
                          <a:solidFill>
                            <a:srgbClr val="1B2A30"/>
                          </a:solidFill>
                        </a:rPr>
                        <a:t>no new deployable, chart or database</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tc>
                  <a:txBody>
                    <a:bodyPr/>
                    <a:lstStyle/>
                    <a:p>
                      <a:pPr marL="0" indent="0">
                        <a:buNone/>
                      </a:pPr>
                      <a:r>
                        <a:rPr lang="en-US" sz="1300" dirty="0">
                          <a:solidFill>
                            <a:srgbClr val="1B2A30"/>
                          </a:solidFill>
                        </a:rPr>
                        <a:t>shares order-service's lifecycle</a:t>
                      </a:r>
                      <a:endParaRPr lang="en-US" sz="1300" dirty="0"/>
                    </a:p>
                  </a:txBody>
                  <a:tcPr marL="73152" marR="73152" marT="73152" marB="73152" anchor="ctr">
                    <a:lnL w="9525" cap="flat" cmpd="sng" algn="ctr">
                      <a:solidFill>
                        <a:srgbClr val="C9D8D6"/>
                      </a:solidFill>
                      <a:prstDash val="solid"/>
                      <a:round/>
                      <a:headEnd type="none" w="med" len="med"/>
                      <a:tailEnd type="none" w="med" len="med"/>
                    </a:lnL>
                    <a:lnR w="9525" cap="flat" cmpd="sng" algn="ctr">
                      <a:solidFill>
                        <a:srgbClr val="C9D8D6"/>
                      </a:solidFill>
                      <a:prstDash val="solid"/>
                      <a:round/>
                      <a:headEnd type="none" w="med" len="med"/>
                      <a:tailEnd type="none" w="med" len="med"/>
                    </a:lnR>
                    <a:lnT w="9525" cap="flat" cmpd="sng" algn="ctr">
                      <a:solidFill>
                        <a:srgbClr val="C9D8D6"/>
                      </a:solidFill>
                      <a:prstDash val="solid"/>
                      <a:round/>
                      <a:headEnd type="none" w="med" len="med"/>
                      <a:tailEnd type="none" w="med" len="med"/>
                    </a:lnT>
                    <a:lnB w="9525" cap="flat" cmpd="sng" algn="ctr">
                      <a:solidFill>
                        <a:srgbClr val="C9D8D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
        <p:nvSpPr>
          <p:cNvPr id="3" name="Presenter tag">
            <a:extLst>
              <a:ext uri="{FF2B5EF4-FFF2-40B4-BE49-F238E27FC236}">
                <a16:creationId xmlns:a16="http://schemas.microsoft.com/office/drawing/2014/main" id="{836B296B-25B1-4AEE-B09F-8756939B8E08}"/>
              </a:ext>
            </a:extLst>
          </p:cNvPr>
          <p:cNvSpPr/>
          <p:nvPr/>
        </p:nvSpPr>
        <p:spPr>
          <a:xfrm>
            <a:off x="8585200" y="6375400"/>
            <a:ext cx="2413000" cy="304800"/>
          </a:xfrm>
          <a:prstGeom prst="roundRect">
            <a:avLst/>
          </a:prstGeom>
          <a:solidFill>
            <a:srgbClr val="F2A5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n-US" sz="1100" b="1">
                <a:solidFill>
                  <a:srgbClr val="0D3B4A"/>
                </a:solidFill>
                <a:latin typeface="Calibri" panose="020F0502020204030204" pitchFamily="34" charset="0"/>
              </a:rPr>
              <a:t>Presenter: Mohammed (B)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buNone/>
            </a:pPr>
            <a:r>
              <a:rPr lang="en-US" sz="3200" b="1" dirty="0">
                <a:solidFill>
                  <a:schemeClr val="tx2"/>
                </a:solidFill>
              </a:rPr>
              <a:t>Security: trust nothing that skipped the gateway</a:t>
            </a:r>
            <a:endParaRPr lang="en-US" sz="3200" dirty="0"/>
          </a:p>
        </p:txBody>
      </p:sp>
      <p:sp>
        <p:nvSpPr>
          <p:cNvPr id="3" name="Shape 1"/>
          <p:cNvSpPr/>
          <p:nvPr/>
        </p:nvSpPr>
        <p:spPr>
          <a:xfrm>
            <a:off x="548640" y="1417320"/>
            <a:ext cx="11064240" cy="1005840"/>
          </a:xfrm>
          <a:prstGeom prst="roundRect">
            <a:avLst>
              <a:gd name="adj" fmla="val 7273"/>
            </a:avLst>
          </a:prstGeom>
          <a:solidFill>
            <a:schemeClr val="bg2"/>
          </a:solidFill>
          <a:ln w="12700">
            <a:solidFill>
              <a:schemeClr val="bg2"/>
            </a:solidFill>
            <a:prstDash val="solid"/>
          </a:ln>
        </p:spPr>
      </p:sp>
      <p:sp>
        <p:nvSpPr>
          <p:cNvPr id="4" name="Text 2"/>
          <p:cNvSpPr txBox="1"/>
          <p:nvPr/>
        </p:nvSpPr>
        <p:spPr>
          <a:xfrm>
            <a:off x="777240" y="1554480"/>
            <a:ext cx="3017520" cy="731520"/>
          </a:xfrm>
          <a:prstGeom prst="rect">
            <a:avLst/>
          </a:prstGeom>
          <a:noFill/>
          <a:ln/>
        </p:spPr>
        <p:txBody>
          <a:bodyPr wrap="square" lIns="0" tIns="0" rIns="0" bIns="0" rtlCol="0" anchor="ctr"/>
          <a:lstStyle/>
          <a:p>
            <a:pPr marL="0" indent="0">
              <a:buNone/>
            </a:pPr>
            <a:r>
              <a:rPr lang="en-US" sz="1700" b="1" dirty="0">
                <a:solidFill>
                  <a:schemeClr val="tx2"/>
                </a:solidFill>
              </a:rPr>
              <a:t>Gateway</a:t>
            </a:r>
            <a:endParaRPr lang="en-US" sz="1700" dirty="0"/>
          </a:p>
        </p:txBody>
      </p:sp>
      <p:sp>
        <p:nvSpPr>
          <p:cNvPr id="5" name="Text 3"/>
          <p:cNvSpPr txBox="1"/>
          <p:nvPr/>
        </p:nvSpPr>
        <p:spPr>
          <a:xfrm>
            <a:off x="3840480" y="1554480"/>
            <a:ext cx="7589520" cy="731520"/>
          </a:xfrm>
          <a:prstGeom prst="rect">
            <a:avLst/>
          </a:prstGeom>
          <a:noFill/>
          <a:ln/>
        </p:spPr>
        <p:txBody>
          <a:bodyPr wrap="square" lIns="0" tIns="0" rIns="0" bIns="0" rtlCol="0" anchor="ctr"/>
          <a:lstStyle/>
          <a:p>
            <a:pPr marL="0" indent="0">
              <a:buNone/>
            </a:pPr>
            <a:r>
              <a:rPr lang="en-US" sz="1400" dirty="0">
                <a:solidFill>
                  <a:schemeClr val="tx1"/>
                </a:solidFill>
              </a:rPr>
              <a:t>OAuth2 Resource Server (Keycloak); strips X-User-* and sets it from the token; 401/403/429 as RFC 7807; /inventory/check never routed</a:t>
            </a:r>
            <a:endParaRPr lang="en-US" sz="1400" dirty="0"/>
          </a:p>
        </p:txBody>
      </p:sp>
      <p:sp>
        <p:nvSpPr>
          <p:cNvPr id="6" name="Shape 4"/>
          <p:cNvSpPr/>
          <p:nvPr/>
        </p:nvSpPr>
        <p:spPr>
          <a:xfrm>
            <a:off x="548640" y="2606040"/>
            <a:ext cx="11064240" cy="1005840"/>
          </a:xfrm>
          <a:prstGeom prst="roundRect">
            <a:avLst>
              <a:gd name="adj" fmla="val 7273"/>
            </a:avLst>
          </a:prstGeom>
          <a:solidFill>
            <a:schemeClr val="bg2"/>
          </a:solidFill>
          <a:ln w="12700">
            <a:solidFill>
              <a:schemeClr val="bg2"/>
            </a:solidFill>
            <a:prstDash val="solid"/>
          </a:ln>
        </p:spPr>
      </p:sp>
      <p:sp>
        <p:nvSpPr>
          <p:cNvPr id="7" name="Text 5"/>
          <p:cNvSpPr txBox="1"/>
          <p:nvPr/>
        </p:nvSpPr>
        <p:spPr>
          <a:xfrm>
            <a:off x="777240" y="2743200"/>
            <a:ext cx="3017520" cy="731520"/>
          </a:xfrm>
          <a:prstGeom prst="rect">
            <a:avLst/>
          </a:prstGeom>
          <a:noFill/>
          <a:ln/>
        </p:spPr>
        <p:txBody>
          <a:bodyPr wrap="square" lIns="0" tIns="0" rIns="0" bIns="0" rtlCol="0" anchor="ctr"/>
          <a:lstStyle/>
          <a:p>
            <a:pPr marL="0" indent="0">
              <a:buNone/>
            </a:pPr>
            <a:r>
              <a:rPr lang="en-US" sz="1700" b="1" dirty="0">
                <a:solidFill>
                  <a:schemeClr val="tx2"/>
                </a:solidFill>
              </a:rPr>
              <a:t>Every service</a:t>
            </a:r>
            <a:endParaRPr lang="en-US" sz="1700" dirty="0"/>
          </a:p>
        </p:txBody>
      </p:sp>
      <p:sp>
        <p:nvSpPr>
          <p:cNvPr id="8" name="Text 6"/>
          <p:cNvSpPr txBox="1"/>
          <p:nvPr/>
        </p:nvSpPr>
        <p:spPr>
          <a:xfrm>
            <a:off x="3840480" y="2743200"/>
            <a:ext cx="7589520" cy="731520"/>
          </a:xfrm>
          <a:prstGeom prst="rect">
            <a:avLst/>
          </a:prstGeom>
          <a:noFill/>
          <a:ln/>
        </p:spPr>
        <p:txBody>
          <a:bodyPr wrap="square" lIns="0" tIns="0" rIns="0" bIns="0" rtlCol="0" anchor="ctr"/>
          <a:lstStyle/>
          <a:p>
            <a:pPr marL="0" indent="0">
              <a:buNone/>
            </a:pPr>
            <a:r>
              <a:rPr lang="en-US" sz="1400" dirty="0">
                <a:solidFill>
                  <a:schemeClr val="tx1"/>
                </a:solidFill>
              </a:rPr>
              <a:t>validates the JWT again; ADMIN on catalogue writes, stock, payments, analytics; customers read only their own orders</a:t>
            </a:r>
            <a:endParaRPr lang="en-US" sz="1400" dirty="0"/>
          </a:p>
        </p:txBody>
      </p:sp>
      <p:sp>
        <p:nvSpPr>
          <p:cNvPr id="9" name="Shape 7"/>
          <p:cNvSpPr/>
          <p:nvPr/>
        </p:nvSpPr>
        <p:spPr>
          <a:xfrm>
            <a:off x="548640" y="3794760"/>
            <a:ext cx="11064240" cy="1005840"/>
          </a:xfrm>
          <a:prstGeom prst="roundRect">
            <a:avLst>
              <a:gd name="adj" fmla="val 7273"/>
            </a:avLst>
          </a:prstGeom>
          <a:solidFill>
            <a:schemeClr val="bg2"/>
          </a:solidFill>
          <a:ln w="12700">
            <a:solidFill>
              <a:schemeClr val="bg2"/>
            </a:solidFill>
            <a:prstDash val="solid"/>
          </a:ln>
        </p:spPr>
      </p:sp>
      <p:sp>
        <p:nvSpPr>
          <p:cNvPr id="10" name="Text 8"/>
          <p:cNvSpPr txBox="1"/>
          <p:nvPr/>
        </p:nvSpPr>
        <p:spPr>
          <a:xfrm>
            <a:off x="777240" y="3931920"/>
            <a:ext cx="3017520" cy="731520"/>
          </a:xfrm>
          <a:prstGeom prst="rect">
            <a:avLst/>
          </a:prstGeom>
          <a:noFill/>
          <a:ln/>
        </p:spPr>
        <p:txBody>
          <a:bodyPr wrap="square" lIns="0" tIns="0" rIns="0" bIns="0" rtlCol="0" anchor="ctr"/>
          <a:lstStyle/>
          <a:p>
            <a:pPr marL="0" indent="0">
              <a:buNone/>
            </a:pPr>
            <a:r>
              <a:rPr lang="en-US" sz="1700" b="1" dirty="0">
                <a:solidFill>
                  <a:schemeClr val="tx2"/>
                </a:solidFill>
              </a:rPr>
              <a:t>Service to service (FR-14)</a:t>
            </a:r>
            <a:endParaRPr lang="en-US" sz="1700" dirty="0"/>
          </a:p>
        </p:txBody>
      </p:sp>
      <p:sp>
        <p:nvSpPr>
          <p:cNvPr id="11" name="Text 9"/>
          <p:cNvSpPr txBox="1"/>
          <p:nvPr/>
        </p:nvSpPr>
        <p:spPr>
          <a:xfrm>
            <a:off x="3840480" y="3931920"/>
            <a:ext cx="7589520" cy="731520"/>
          </a:xfrm>
          <a:prstGeom prst="rect">
            <a:avLst/>
          </a:prstGeom>
          <a:noFill/>
          <a:ln/>
        </p:spPr>
        <p:txBody>
          <a:bodyPr wrap="square" lIns="0" tIns="0" rIns="0" bIns="0" rtlCol="0" anchor="ctr"/>
          <a:lstStyle/>
          <a:p>
            <a:pPr marL="0" indent="0">
              <a:buNone/>
            </a:pPr>
            <a:r>
              <a:rPr lang="en-US" sz="1400" dirty="0">
                <a:solidFill>
                  <a:schemeClr val="tx1"/>
                </a:solidFill>
              </a:rPr>
              <a:t>order-service calls inventory with its own client-credentials token (role SERVICE); a customer token gets 403</a:t>
            </a:r>
            <a:endParaRPr lang="en-US" sz="1400" dirty="0"/>
          </a:p>
        </p:txBody>
      </p:sp>
      <p:sp>
        <p:nvSpPr>
          <p:cNvPr id="12" name="Shape 10"/>
          <p:cNvSpPr/>
          <p:nvPr/>
        </p:nvSpPr>
        <p:spPr>
          <a:xfrm>
            <a:off x="548640" y="4983480"/>
            <a:ext cx="11064240" cy="1005840"/>
          </a:xfrm>
          <a:prstGeom prst="roundRect">
            <a:avLst>
              <a:gd name="adj" fmla="val 7273"/>
            </a:avLst>
          </a:prstGeom>
          <a:solidFill>
            <a:schemeClr val="bg2"/>
          </a:solidFill>
          <a:ln w="12700">
            <a:solidFill>
              <a:schemeClr val="bg2"/>
            </a:solidFill>
            <a:prstDash val="solid"/>
          </a:ln>
        </p:spPr>
      </p:sp>
      <p:sp>
        <p:nvSpPr>
          <p:cNvPr id="13" name="Text 11"/>
          <p:cNvSpPr txBox="1"/>
          <p:nvPr/>
        </p:nvSpPr>
        <p:spPr>
          <a:xfrm>
            <a:off x="777240" y="5120640"/>
            <a:ext cx="3017520" cy="731520"/>
          </a:xfrm>
          <a:prstGeom prst="rect">
            <a:avLst/>
          </a:prstGeom>
          <a:noFill/>
          <a:ln/>
        </p:spPr>
        <p:txBody>
          <a:bodyPr wrap="square" lIns="0" tIns="0" rIns="0" bIns="0" rtlCol="0" anchor="ctr"/>
          <a:lstStyle/>
          <a:p>
            <a:pPr marL="0" indent="0">
              <a:buNone/>
            </a:pPr>
            <a:r>
              <a:rPr lang="en-US" sz="1700" b="1" dirty="0">
                <a:solidFill>
                  <a:schemeClr val="tx2"/>
                </a:solidFill>
              </a:rPr>
              <a:t>Secrets (NFR-04)</a:t>
            </a:r>
            <a:endParaRPr lang="en-US" sz="1700" dirty="0"/>
          </a:p>
        </p:txBody>
      </p:sp>
      <p:sp>
        <p:nvSpPr>
          <p:cNvPr id="14" name="Text 12"/>
          <p:cNvSpPr txBox="1"/>
          <p:nvPr/>
        </p:nvSpPr>
        <p:spPr>
          <a:xfrm>
            <a:off x="3840480" y="5120640"/>
            <a:ext cx="7589520" cy="731520"/>
          </a:xfrm>
          <a:prstGeom prst="rect">
            <a:avLst/>
          </a:prstGeom>
          <a:noFill/>
          <a:ln/>
        </p:spPr>
        <p:txBody>
          <a:bodyPr wrap="square" lIns="0" tIns="0" rIns="0" bIns="0" rtlCol="0" anchor="ctr"/>
          <a:lstStyle/>
          <a:p>
            <a:pPr marL="0" indent="0">
              <a:buNone/>
            </a:pPr>
            <a:r>
              <a:rPr lang="en-US" sz="1400" dirty="0">
                <a:solidFill>
                  <a:schemeClr val="tx1"/>
                </a:solidFill>
              </a:rPr>
              <a:t>.env and Kubernetes Secrets only; realm export uses ${PLACEHOLDERS}; gitleaks + non-root guard in CI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
        <p:nvSpPr>
          <p:cNvPr id="15" name="Presenter tag">
            <a:extLst>
              <a:ext uri="{FF2B5EF4-FFF2-40B4-BE49-F238E27FC236}">
                <a16:creationId xmlns:a16="http://schemas.microsoft.com/office/drawing/2014/main" id="{68BE7D18-03C9-4B8D-83D5-B337EB8B847C}"/>
              </a:ext>
            </a:extLst>
          </p:cNvPr>
          <p:cNvSpPr/>
          <p:nvPr/>
        </p:nvSpPr>
        <p:spPr>
          <a:xfrm>
            <a:off x="8585200" y="6375400"/>
            <a:ext cx="2413000" cy="304800"/>
          </a:xfrm>
          <a:prstGeom prst="roundRect">
            <a:avLst/>
          </a:prstGeom>
          <a:solidFill>
            <a:srgbClr val="2A9D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n-US" sz="1100" b="1">
                <a:solidFill>
                  <a:srgbClr val="FFFFFF"/>
                </a:solidFill>
                <a:latin typeface="Calibri" panose="020F0502020204030204" pitchFamily="34" charset="0"/>
              </a:rPr>
              <a:t>Presenter: Nourhan (A)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buNone/>
            </a:pPr>
            <a:r>
              <a:rPr lang="en-US" sz="3200" b="1" dirty="0">
                <a:solidFill>
                  <a:schemeClr val="tx2"/>
                </a:solidFill>
              </a:rPr>
              <a:t>Performance: one bottleneck found and fixed</a:t>
            </a:r>
            <a:endParaRPr lang="en-US" sz="3200" dirty="0"/>
          </a:p>
        </p:txBody>
      </p:sp>
      <p:graphicFrame>
        <p:nvGraphicFramePr>
          <p:cNvPr id="3" name="Chart 0"/>
          <p:cNvGraphicFramePr/>
          <p:nvPr>
            <p:extLst>
              <p:ext uri="{D42A27DB-BD31-4B8C-83A1-F6EECF244321}">
                <p14:modId xmlns:p14="http://schemas.microsoft.com/office/powerpoint/2010/main" val="2371585072"/>
              </p:ext>
            </p:extLst>
          </p:nvPr>
        </p:nvGraphicFramePr>
        <p:xfrm>
          <a:off x="548640" y="1325880"/>
          <a:ext cx="60350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6949440" y="1417320"/>
            <a:ext cx="466344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7178040" y="1508760"/>
            <a:ext cx="2103120" cy="731520"/>
          </a:xfrm>
          <a:prstGeom prst="rect">
            <a:avLst/>
          </a:prstGeom>
          <a:noFill/>
          <a:ln/>
        </p:spPr>
        <p:txBody>
          <a:bodyPr wrap="square" lIns="0" tIns="0" rIns="0" bIns="0" rtlCol="0" anchor="ctr"/>
          <a:lstStyle/>
          <a:p>
            <a:pPr marL="0" indent="0">
              <a:buNone/>
            </a:pPr>
            <a:r>
              <a:rPr lang="en-US" sz="2400" b="1" dirty="0">
                <a:solidFill>
                  <a:schemeClr val="tx2"/>
                </a:solidFill>
              </a:rPr>
              <a:t>59 req/s</a:t>
            </a:r>
            <a:endParaRPr lang="en-US" sz="2400" dirty="0"/>
          </a:p>
        </p:txBody>
      </p:sp>
      <p:sp>
        <p:nvSpPr>
          <p:cNvPr id="6" name="Text 3"/>
          <p:cNvSpPr txBox="1"/>
          <p:nvPr/>
        </p:nvSpPr>
        <p:spPr>
          <a:xfrm>
            <a:off x="9326880" y="1508760"/>
            <a:ext cx="2194560" cy="731520"/>
          </a:xfrm>
          <a:prstGeom prst="rect">
            <a:avLst/>
          </a:prstGeom>
          <a:noFill/>
          <a:ln/>
        </p:spPr>
        <p:txBody>
          <a:bodyPr wrap="square" lIns="0" tIns="0" rIns="0" bIns="0" rtlCol="0" anchor="ctr"/>
          <a:lstStyle/>
          <a:p>
            <a:pPr marL="0" indent="0">
              <a:buNone/>
            </a:pPr>
            <a:r>
              <a:rPr lang="en-US" sz="1400" dirty="0">
                <a:solidFill>
                  <a:schemeClr val="tx1"/>
                </a:solidFill>
              </a:rPr>
              <a:t>catalogue reads (target ≥ 50)</a:t>
            </a:r>
            <a:endParaRPr lang="en-US" sz="1400" dirty="0"/>
          </a:p>
        </p:txBody>
      </p:sp>
      <p:sp>
        <p:nvSpPr>
          <p:cNvPr id="7" name="Shape 4"/>
          <p:cNvSpPr/>
          <p:nvPr/>
        </p:nvSpPr>
        <p:spPr>
          <a:xfrm>
            <a:off x="6949440" y="2514600"/>
            <a:ext cx="466344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8" name="Text 5"/>
          <p:cNvSpPr txBox="1"/>
          <p:nvPr/>
        </p:nvSpPr>
        <p:spPr>
          <a:xfrm>
            <a:off x="7178040" y="2606040"/>
            <a:ext cx="2103120" cy="731520"/>
          </a:xfrm>
          <a:prstGeom prst="rect">
            <a:avLst/>
          </a:prstGeom>
          <a:noFill/>
          <a:ln/>
        </p:spPr>
        <p:txBody>
          <a:bodyPr wrap="square" lIns="0" tIns="0" rIns="0" bIns="0" rtlCol="0" anchor="ctr"/>
          <a:lstStyle/>
          <a:p>
            <a:pPr marL="0" indent="0">
              <a:buNone/>
            </a:pPr>
            <a:r>
              <a:rPr lang="en-US" sz="2400" b="1" dirty="0">
                <a:solidFill>
                  <a:schemeClr val="tx2"/>
                </a:solidFill>
              </a:rPr>
              <a:t>0.00 %</a:t>
            </a:r>
            <a:endParaRPr lang="en-US" sz="2400" dirty="0"/>
          </a:p>
        </p:txBody>
      </p:sp>
      <p:sp>
        <p:nvSpPr>
          <p:cNvPr id="9" name="Text 6"/>
          <p:cNvSpPr txBox="1"/>
          <p:nvPr/>
        </p:nvSpPr>
        <p:spPr>
          <a:xfrm>
            <a:off x="9326880" y="2606040"/>
            <a:ext cx="2194560" cy="731520"/>
          </a:xfrm>
          <a:prstGeom prst="rect">
            <a:avLst/>
          </a:prstGeom>
          <a:noFill/>
          <a:ln/>
        </p:spPr>
        <p:txBody>
          <a:bodyPr wrap="square" lIns="0" tIns="0" rIns="0" bIns="0" rtlCol="0" anchor="ctr"/>
          <a:lstStyle/>
          <a:p>
            <a:pPr marL="0" indent="0">
              <a:buNone/>
            </a:pPr>
            <a:r>
              <a:rPr lang="en-US" sz="1400" dirty="0">
                <a:solidFill>
                  <a:schemeClr val="tx1"/>
                </a:solidFill>
              </a:rPr>
              <a:t>errors over 25,644 </a:t>
            </a:r>
            <a:r>
              <a:rPr lang="en-US" sz="1400">
                <a:solidFill>
                  <a:schemeClr val="tx1"/>
                </a:solidFill>
              </a:rPr>
              <a:t>requests (5 min load)</a:t>
            </a:r>
            <a:endParaRPr lang="en-US" sz="1400" dirty="0"/>
          </a:p>
        </p:txBody>
      </p:sp>
      <p:sp>
        <p:nvSpPr>
          <p:cNvPr id="10" name="Shape 7"/>
          <p:cNvSpPr/>
          <p:nvPr/>
        </p:nvSpPr>
        <p:spPr>
          <a:xfrm>
            <a:off x="6949440" y="3611880"/>
            <a:ext cx="466344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1" name="Text 8"/>
          <p:cNvSpPr txBox="1"/>
          <p:nvPr/>
        </p:nvSpPr>
        <p:spPr>
          <a:xfrm>
            <a:off x="7178040" y="3703320"/>
            <a:ext cx="2103120" cy="731520"/>
          </a:xfrm>
          <a:prstGeom prst="rect">
            <a:avLst/>
          </a:prstGeom>
          <a:noFill/>
          <a:ln/>
        </p:spPr>
        <p:txBody>
          <a:bodyPr wrap="square" lIns="0" tIns="0" rIns="0" bIns="0" rtlCol="0" anchor="ctr"/>
          <a:lstStyle/>
          <a:p>
            <a:pPr marL="0" indent="0">
              <a:buNone/>
            </a:pPr>
            <a:r>
              <a:rPr lang="en-US" sz="2400" b="1" dirty="0">
                <a:solidFill>
                  <a:schemeClr val="tx2"/>
                </a:solidFill>
              </a:rPr>
              <a:t>0.07 %</a:t>
            </a:r>
            <a:endParaRPr lang="en-US" sz="2400" dirty="0"/>
          </a:p>
        </p:txBody>
      </p:sp>
      <p:sp>
        <p:nvSpPr>
          <p:cNvPr id="12" name="Text 9"/>
          <p:cNvSpPr txBox="1"/>
          <p:nvPr/>
        </p:nvSpPr>
        <p:spPr>
          <a:xfrm>
            <a:off x="9326880" y="3703320"/>
            <a:ext cx="2194560" cy="731520"/>
          </a:xfrm>
          <a:prstGeom prst="rect">
            <a:avLst/>
          </a:prstGeom>
          <a:noFill/>
          <a:ln/>
        </p:spPr>
        <p:txBody>
          <a:bodyPr wrap="square" lIns="0" tIns="0" rIns="0" bIns="0" rtlCol="0" anchor="ctr"/>
          <a:lstStyle/>
          <a:p>
            <a:pPr marL="0" indent="0">
              <a:buNone/>
            </a:pPr>
            <a:r>
              <a:rPr lang="en-US" sz="1400" dirty="0">
                <a:solidFill>
                  <a:schemeClr val="tx1"/>
                </a:solidFill>
              </a:rPr>
              <a:t>errors over 64,159 requests at up to 150 VUs</a:t>
            </a:r>
            <a:endParaRPr lang="en-US" sz="1400" dirty="0"/>
          </a:p>
        </p:txBody>
      </p:sp>
      <p:sp>
        <p:nvSpPr>
          <p:cNvPr id="13" name="Text 10"/>
          <p:cNvSpPr txBox="1"/>
          <p:nvPr/>
        </p:nvSpPr>
        <p:spPr>
          <a:xfrm>
            <a:off x="6949440" y="4800600"/>
            <a:ext cx="4663440" cy="1188720"/>
          </a:xfrm>
          <a:prstGeom prst="rect">
            <a:avLst/>
          </a:prstGeom>
          <a:noFill/>
          <a:ln/>
        </p:spPr>
        <p:txBody>
          <a:bodyPr wrap="square" lIns="0" tIns="0" rIns="0" bIns="0" rtlCol="0" anchor="t"/>
          <a:lstStyle/>
          <a:p>
            <a:pPr marL="0" indent="0">
              <a:buNone/>
            </a:pPr>
            <a:r>
              <a:rPr lang="en-US" sz="1400" b="1" dirty="0">
                <a:solidFill>
                  <a:schemeClr val="tx2"/>
                </a:solidFill>
              </a:rPr>
              <a:t>Bottleneck found and fixed: </a:t>
            </a:r>
            <a:r>
              <a:rPr lang="en-US" sz="1400" dirty="0">
                <a:solidFill>
                  <a:schemeClr val="tx1"/>
                </a:solidFill>
              </a:rPr>
              <a:t>the gateway built a WebSession per request. Removing it took GET /products p95 </a:t>
            </a:r>
            <a:r>
              <a:rPr lang="en-US" sz="1400">
                <a:solidFill>
                  <a:schemeClr val="tx1"/>
                </a:solidFill>
              </a:rPr>
              <a:t>from 1.23 s to 475 ms </a:t>
            </a:r>
            <a:r>
              <a:rPr lang="en-US" sz="1400" dirty="0">
                <a:solidFill>
                  <a:schemeClr val="tx1"/>
                </a:solidFill>
              </a:rPr>
              <a:t>and POST /orders </a:t>
            </a:r>
            <a:r>
              <a:rPr lang="en-US" sz="1400">
                <a:solidFill>
                  <a:schemeClr val="tx1"/>
                </a:solidFill>
              </a:rPr>
              <a:t>to 487 ms.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
        <p:nvSpPr>
          <p:cNvPr id="14" name="Presenter tag">
            <a:extLst>
              <a:ext uri="{FF2B5EF4-FFF2-40B4-BE49-F238E27FC236}">
                <a16:creationId xmlns:a16="http://schemas.microsoft.com/office/drawing/2014/main" id="{7D5B9634-E931-4696-B393-DB7845FAAD81}"/>
              </a:ext>
            </a:extLst>
          </p:cNvPr>
          <p:cNvSpPr/>
          <p:nvPr/>
        </p:nvSpPr>
        <p:spPr>
          <a:xfrm>
            <a:off x="8585200" y="6375400"/>
            <a:ext cx="2413000" cy="304800"/>
          </a:xfrm>
          <a:prstGeom prst="roundRect">
            <a:avLst/>
          </a:prstGeom>
          <a:solidFill>
            <a:srgbClr val="2A9D8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n-US" sz="1100" b="1">
                <a:solidFill>
                  <a:srgbClr val="FFFFFF"/>
                </a:solidFill>
                <a:latin typeface="Calibri" panose="020F0502020204030204" pitchFamily="34" charset="0"/>
              </a:rPr>
              <a:t>Presenter: Nourhan (A)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buNone/>
            </a:pPr>
            <a:r>
              <a:rPr lang="en-US" sz="3200" b="1" dirty="0">
                <a:solidFill>
                  <a:schemeClr val="tx2"/>
                </a:solidFill>
              </a:rPr>
              <a:t>Evidence: tests at every level</a:t>
            </a:r>
            <a:endParaRPr lang="en-US" sz="3200" dirty="0"/>
          </a:p>
        </p:txBody>
      </p:sp>
      <p:graphicFrame>
        <p:nvGraphicFramePr>
          <p:cNvPr id="3" name="Chart 0"/>
          <p:cNvGraphicFramePr/>
          <p:nvPr>
            <p:extLst>
              <p:ext uri="{D42A27DB-BD31-4B8C-83A1-F6EECF244321}">
                <p14:modId xmlns:p14="http://schemas.microsoft.com/office/powerpoint/2010/main" val="2361409617"/>
              </p:ext>
            </p:extLst>
          </p:nvPr>
        </p:nvGraphicFramePr>
        <p:xfrm>
          <a:off x="548640" y="1325880"/>
          <a:ext cx="658368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498080" y="1417320"/>
            <a:ext cx="4114800" cy="960120"/>
          </a:xfrm>
          <a:prstGeom prst="roundRect">
            <a:avLst>
              <a:gd name="adj" fmla="val 7619"/>
            </a:avLst>
          </a:prstGeom>
          <a:solidFill>
            <a:schemeClr val="bg2"/>
          </a:solidFill>
          <a:ln w="12700">
            <a:solidFill>
              <a:schemeClr val="bg2"/>
            </a:solidFill>
            <a:prstDash val="solid"/>
          </a:ln>
        </p:spPr>
      </p:sp>
      <p:sp>
        <p:nvSpPr>
          <p:cNvPr id="5" name="Text 2"/>
          <p:cNvSpPr txBox="1"/>
          <p:nvPr/>
        </p:nvSpPr>
        <p:spPr>
          <a:xfrm>
            <a:off x="7726680" y="1527048"/>
            <a:ext cx="1554480" cy="731520"/>
          </a:xfrm>
          <a:prstGeom prst="rect">
            <a:avLst/>
          </a:prstGeom>
          <a:noFill/>
          <a:ln/>
        </p:spPr>
        <p:txBody>
          <a:bodyPr wrap="square" lIns="0" tIns="0" rIns="0" bIns="0" rtlCol="0" anchor="ctr"/>
          <a:lstStyle/>
          <a:p>
            <a:pPr marL="0" indent="0">
              <a:buNone/>
            </a:pPr>
            <a:r>
              <a:rPr lang="en-US" sz="2800" b="1" dirty="0">
                <a:solidFill>
                  <a:schemeClr val="tx2"/>
                </a:solidFill>
              </a:rPr>
              <a:t>85%</a:t>
            </a:r>
            <a:endParaRPr lang="en-US" sz="2800" dirty="0"/>
          </a:p>
        </p:txBody>
      </p:sp>
      <p:sp>
        <p:nvSpPr>
          <p:cNvPr id="6" name="Text 3"/>
          <p:cNvSpPr txBox="1"/>
          <p:nvPr/>
        </p:nvSpPr>
        <p:spPr>
          <a:xfrm>
            <a:off x="9326880" y="1527048"/>
            <a:ext cx="2194560" cy="731520"/>
          </a:xfrm>
          <a:prstGeom prst="rect">
            <a:avLst/>
          </a:prstGeom>
          <a:noFill/>
          <a:ln/>
        </p:spPr>
        <p:txBody>
          <a:bodyPr wrap="square" lIns="0" tIns="0" rIns="0" bIns="0" rtlCol="0" anchor="ctr"/>
          <a:lstStyle/>
          <a:p>
            <a:pPr marL="0" indent="0">
              <a:buNone/>
            </a:pPr>
            <a:r>
              <a:rPr lang="en-US" sz="1400" dirty="0">
                <a:solidFill>
                  <a:schemeClr val="tx1"/>
                </a:solidFill>
              </a:rPr>
              <a:t>order.application line coverage</a:t>
            </a:r>
            <a:endParaRPr lang="en-US" sz="1400" dirty="0"/>
          </a:p>
        </p:txBody>
      </p:sp>
      <p:sp>
        <p:nvSpPr>
          <p:cNvPr id="7" name="Shape 4"/>
          <p:cNvSpPr/>
          <p:nvPr/>
        </p:nvSpPr>
        <p:spPr>
          <a:xfrm>
            <a:off x="7498080" y="2560320"/>
            <a:ext cx="4114800" cy="960120"/>
          </a:xfrm>
          <a:prstGeom prst="roundRect">
            <a:avLst>
              <a:gd name="adj" fmla="val 7619"/>
            </a:avLst>
          </a:prstGeom>
          <a:solidFill>
            <a:schemeClr val="bg2"/>
          </a:solidFill>
          <a:ln w="12700">
            <a:solidFill>
              <a:schemeClr val="bg2"/>
            </a:solidFill>
            <a:prstDash val="solid"/>
          </a:ln>
        </p:spPr>
      </p:sp>
      <p:sp>
        <p:nvSpPr>
          <p:cNvPr id="8" name="Text 5"/>
          <p:cNvSpPr txBox="1"/>
          <p:nvPr/>
        </p:nvSpPr>
        <p:spPr>
          <a:xfrm>
            <a:off x="7726680" y="2670048"/>
            <a:ext cx="1554480" cy="731520"/>
          </a:xfrm>
          <a:prstGeom prst="rect">
            <a:avLst/>
          </a:prstGeom>
          <a:noFill/>
          <a:ln/>
        </p:spPr>
        <p:txBody>
          <a:bodyPr wrap="square" lIns="0" tIns="0" rIns="0" bIns="0" rtlCol="0" anchor="ctr"/>
          <a:lstStyle/>
          <a:p>
            <a:pPr marL="0" indent="0">
              <a:buNone/>
            </a:pPr>
            <a:r>
              <a:rPr lang="en-US" sz="2800" b="1" dirty="0">
                <a:solidFill>
                  <a:schemeClr val="tx2"/>
                </a:solidFill>
              </a:rPr>
              <a:t>78%</a:t>
            </a:r>
            <a:endParaRPr lang="en-US" sz="2800" dirty="0"/>
          </a:p>
        </p:txBody>
      </p:sp>
      <p:sp>
        <p:nvSpPr>
          <p:cNvPr id="9" name="Text 6"/>
          <p:cNvSpPr txBox="1"/>
          <p:nvPr/>
        </p:nvSpPr>
        <p:spPr>
          <a:xfrm>
            <a:off x="9326880" y="2670048"/>
            <a:ext cx="2194560" cy="731520"/>
          </a:xfrm>
          <a:prstGeom prst="rect">
            <a:avLst/>
          </a:prstGeom>
          <a:noFill/>
          <a:ln/>
        </p:spPr>
        <p:txBody>
          <a:bodyPr wrap="square" lIns="0" tIns="0" rIns="0" bIns="0" rtlCol="0" anchor="ctr"/>
          <a:lstStyle/>
          <a:p>
            <a:pPr marL="0" indent="0">
              <a:buNone/>
            </a:pPr>
            <a:r>
              <a:rPr lang="en-US" sz="1400" dirty="0">
                <a:solidFill>
                  <a:schemeClr val="tx1"/>
                </a:solidFill>
              </a:rPr>
              <a:t>inventory.application coverage</a:t>
            </a:r>
            <a:endParaRPr lang="en-US" sz="1400" dirty="0"/>
          </a:p>
        </p:txBody>
      </p:sp>
      <p:sp>
        <p:nvSpPr>
          <p:cNvPr id="10" name="Shape 7"/>
          <p:cNvSpPr/>
          <p:nvPr/>
        </p:nvSpPr>
        <p:spPr>
          <a:xfrm>
            <a:off x="7498080" y="3703320"/>
            <a:ext cx="4114800" cy="960120"/>
          </a:xfrm>
          <a:prstGeom prst="roundRect">
            <a:avLst>
              <a:gd name="adj" fmla="val 7619"/>
            </a:avLst>
          </a:prstGeom>
          <a:solidFill>
            <a:schemeClr val="bg2"/>
          </a:solidFill>
          <a:ln w="12700">
            <a:solidFill>
              <a:schemeClr val="bg2"/>
            </a:solidFill>
            <a:prstDash val="solid"/>
          </a:ln>
        </p:spPr>
      </p:sp>
      <p:sp>
        <p:nvSpPr>
          <p:cNvPr id="11" name="Text 8"/>
          <p:cNvSpPr txBox="1"/>
          <p:nvPr/>
        </p:nvSpPr>
        <p:spPr>
          <a:xfrm>
            <a:off x="7726680" y="3813048"/>
            <a:ext cx="1554480" cy="731520"/>
          </a:xfrm>
          <a:prstGeom prst="rect">
            <a:avLst/>
          </a:prstGeom>
          <a:noFill/>
          <a:ln/>
        </p:spPr>
        <p:txBody>
          <a:bodyPr wrap="square" lIns="0" tIns="0" rIns="0" bIns="0" rtlCol="0" anchor="ctr"/>
          <a:lstStyle/>
          <a:p>
            <a:pPr marL="0" indent="0">
              <a:buNone/>
            </a:pPr>
            <a:r>
              <a:rPr lang="en-US" sz="2800" b="1" dirty="0">
                <a:solidFill>
                  <a:schemeClr val="tx2"/>
                </a:solidFill>
              </a:rPr>
              <a:t>≥ 60 %</a:t>
            </a:r>
            <a:endParaRPr lang="en-US" sz="2800" dirty="0"/>
          </a:p>
        </p:txBody>
      </p:sp>
      <p:sp>
        <p:nvSpPr>
          <p:cNvPr id="12" name="Text 9"/>
          <p:cNvSpPr txBox="1"/>
          <p:nvPr/>
        </p:nvSpPr>
        <p:spPr>
          <a:xfrm>
            <a:off x="9326880" y="3813048"/>
            <a:ext cx="2194560" cy="731520"/>
          </a:xfrm>
          <a:prstGeom prst="rect">
            <a:avLst/>
          </a:prstGeom>
          <a:noFill/>
          <a:ln/>
        </p:spPr>
        <p:txBody>
          <a:bodyPr wrap="square" lIns="0" tIns="0" rIns="0" bIns="0" rtlCol="0" anchor="ctr"/>
          <a:lstStyle/>
          <a:p>
            <a:pPr marL="0" indent="0">
              <a:buNone/>
            </a:pPr>
            <a:r>
              <a:rPr lang="en-US" sz="1400" dirty="0">
                <a:solidFill>
                  <a:schemeClr val="tx1"/>
                </a:solidFill>
              </a:rPr>
              <a:t>JaCoCo gate fails the build</a:t>
            </a:r>
            <a:endParaRPr lang="en-US" sz="1400" dirty="0"/>
          </a:p>
        </p:txBody>
      </p:sp>
      <p:sp>
        <p:nvSpPr>
          <p:cNvPr id="13" name="Text 10"/>
          <p:cNvSpPr txBox="1"/>
          <p:nvPr/>
        </p:nvSpPr>
        <p:spPr>
          <a:xfrm>
            <a:off x="7498080" y="4937760"/>
            <a:ext cx="4114800" cy="1188720"/>
          </a:xfrm>
          <a:prstGeom prst="rect">
            <a:avLst/>
          </a:prstGeom>
          <a:noFill/>
          <a:ln/>
        </p:spPr>
        <p:txBody>
          <a:bodyPr wrap="square" lIns="0" tIns="0" rIns="0" bIns="0" rtlCol="0" anchor="t"/>
          <a:lstStyle/>
          <a:p>
            <a:pPr marL="0" indent="0">
              <a:buNone/>
            </a:pPr>
            <a:r>
              <a:rPr lang="en-US" sz="1400" b="1" dirty="0">
                <a:solidFill>
                  <a:schemeClr val="tx1"/>
                </a:solidFill>
              </a:rPr>
              <a:t>Testcontainers </a:t>
            </a:r>
            <a:r>
              <a:rPr lang="en-US" sz="1400" dirty="0">
                <a:solidFill>
                  <a:schemeClr val="tx1"/>
                </a:solidFill>
              </a:rPr>
              <a:t>for every database-owning service · </a:t>
            </a:r>
            <a:r>
              <a:rPr lang="en-US" sz="1400" b="1" dirty="0">
                <a:solidFill>
                  <a:schemeClr val="tx1"/>
                </a:solidFill>
              </a:rPr>
              <a:t>embedded Kafka </a:t>
            </a:r>
            <a:r>
              <a:rPr lang="en-US" sz="1400" dirty="0">
                <a:solidFill>
                  <a:schemeClr val="tx1"/>
                </a:solidFill>
              </a:rPr>
              <a:t>for retry → DLT · </a:t>
            </a:r>
            <a:r>
              <a:rPr lang="en-US" sz="1400" b="1" dirty="0">
                <a:solidFill>
                  <a:schemeClr val="tx1"/>
                </a:solidFill>
              </a:rPr>
              <a:t>WireMock </a:t>
            </a:r>
            <a:r>
              <a:rPr lang="en-US" sz="1400" dirty="0">
                <a:solidFill>
                  <a:schemeClr val="tx1"/>
                </a:solidFill>
              </a:rPr>
              <a:t>for resilience and FR-14 · </a:t>
            </a:r>
            <a:r>
              <a:rPr lang="en-US" sz="1400" b="1" dirty="0">
                <a:solidFill>
                  <a:schemeClr val="tx2"/>
                </a:solidFill>
              </a:rPr>
              <a:t>scripts/e2e-check.sh: 39/39 live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
        <p:nvSpPr>
          <p:cNvPr id="14" name="Presenter tag">
            <a:extLst>
              <a:ext uri="{FF2B5EF4-FFF2-40B4-BE49-F238E27FC236}">
                <a16:creationId xmlns:a16="http://schemas.microsoft.com/office/drawing/2014/main" id="{90790892-2A00-4F34-8A7E-7CE481B11C5B}"/>
              </a:ext>
            </a:extLst>
          </p:cNvPr>
          <p:cNvSpPr/>
          <p:nvPr/>
        </p:nvSpPr>
        <p:spPr>
          <a:xfrm>
            <a:off x="8585200" y="6375400"/>
            <a:ext cx="2413000" cy="304800"/>
          </a:xfrm>
          <a:prstGeom prst="roundRect">
            <a:avLst/>
          </a:prstGeom>
          <a:solidFill>
            <a:srgbClr val="0D3B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n-US" sz="1100" b="1">
                <a:solidFill>
                  <a:srgbClr val="FFFFFF"/>
                </a:solidFill>
                <a:latin typeface="Calibri" panose="020F0502020204030204" pitchFamily="34" charset="0"/>
              </a:rPr>
              <a:t>Presenter: Doaa (C)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buNone/>
            </a:pPr>
            <a:r>
              <a:rPr lang="en-US" sz="3200" b="1" dirty="0">
                <a:solidFill>
                  <a:schemeClr val="tx2"/>
                </a:solidFill>
              </a:rPr>
              <a:t>What testing the whole system caught</a:t>
            </a:r>
            <a:endParaRPr lang="en-US" sz="3200" dirty="0"/>
          </a:p>
        </p:txBody>
      </p:sp>
      <p:sp>
        <p:nvSpPr>
          <p:cNvPr id="3" name="Shape 1"/>
          <p:cNvSpPr/>
          <p:nvPr/>
        </p:nvSpPr>
        <p:spPr>
          <a:xfrm>
            <a:off x="548640" y="1417320"/>
            <a:ext cx="5440680" cy="2103120"/>
          </a:xfrm>
          <a:prstGeom prst="roundRect">
            <a:avLst>
              <a:gd name="adj" fmla="val 3478"/>
            </a:avLst>
          </a:prstGeom>
          <a:solidFill>
            <a:schemeClr val="bg2"/>
          </a:solidFill>
          <a:ln w="12700">
            <a:solidFill>
              <a:schemeClr val="bg2"/>
            </a:solidFill>
            <a:prstDash val="solid"/>
          </a:ln>
        </p:spPr>
      </p:sp>
      <p:sp>
        <p:nvSpPr>
          <p:cNvPr id="4" name="Shape 2"/>
          <p:cNvSpPr/>
          <p:nvPr/>
        </p:nvSpPr>
        <p:spPr>
          <a:xfrm>
            <a:off x="777240" y="164592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77240" y="164592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6" name="Text 4"/>
          <p:cNvSpPr txBox="1"/>
          <p:nvPr/>
        </p:nvSpPr>
        <p:spPr>
          <a:xfrm>
            <a:off x="1371600" y="1691640"/>
            <a:ext cx="4389120" cy="411480"/>
          </a:xfrm>
          <a:prstGeom prst="rect">
            <a:avLst/>
          </a:prstGeom>
          <a:noFill/>
          <a:ln/>
        </p:spPr>
        <p:txBody>
          <a:bodyPr wrap="square" lIns="0" tIns="0" rIns="0" bIns="0" rtlCol="0" anchor="t"/>
          <a:lstStyle/>
          <a:p>
            <a:pPr marL="0" indent="0">
              <a:buNone/>
            </a:pPr>
            <a:r>
              <a:rPr lang="en-US" sz="1800" b="1" dirty="0">
                <a:solidFill>
                  <a:schemeClr val="tx2"/>
                </a:solidFill>
              </a:rPr>
              <a:t>Notification never notified</a:t>
            </a:r>
            <a:endParaRPr lang="en-US" sz="1800" dirty="0"/>
          </a:p>
        </p:txBody>
      </p:sp>
      <p:sp>
        <p:nvSpPr>
          <p:cNvPr id="7" name="Text 5"/>
          <p:cNvSpPr txBox="1"/>
          <p:nvPr/>
        </p:nvSpPr>
        <p:spPr>
          <a:xfrm>
            <a:off x="777240" y="2286000"/>
            <a:ext cx="4983480" cy="1143000"/>
          </a:xfrm>
          <a:prstGeom prst="rect">
            <a:avLst/>
          </a:prstGeom>
          <a:noFill/>
          <a:ln/>
        </p:spPr>
        <p:txBody>
          <a:bodyPr wrap="square" lIns="0" tIns="0" rIns="0" bIns="0" rtlCol="0" anchor="t"/>
          <a:lstStyle/>
          <a:p>
            <a:pPr marL="0" indent="0">
              <a:buNone/>
            </a:pPr>
            <a:r>
              <a:rPr lang="en-US" sz="1500" dirty="0">
                <a:solidFill>
                  <a:schemeClr val="tx1"/>
                </a:solidFill>
              </a:rPr>
              <a:t>Unit tests on both sides were green; the live run showed every order event parked on the DLT — two shapes of one contract.</a:t>
            </a:r>
            <a:endParaRPr lang="en-US" sz="1500" dirty="0"/>
          </a:p>
        </p:txBody>
      </p:sp>
      <p:sp>
        <p:nvSpPr>
          <p:cNvPr id="8" name="Shape 6"/>
          <p:cNvSpPr/>
          <p:nvPr/>
        </p:nvSpPr>
        <p:spPr>
          <a:xfrm>
            <a:off x="6172200" y="1417320"/>
            <a:ext cx="5440680" cy="2103120"/>
          </a:xfrm>
          <a:prstGeom prst="roundRect">
            <a:avLst>
              <a:gd name="adj" fmla="val 3478"/>
            </a:avLst>
          </a:prstGeom>
          <a:solidFill>
            <a:schemeClr val="bg2"/>
          </a:solidFill>
          <a:ln w="12700">
            <a:solidFill>
              <a:schemeClr val="bg2"/>
            </a:solidFill>
            <a:prstDash val="solid"/>
          </a:ln>
        </p:spPr>
      </p:sp>
      <p:sp>
        <p:nvSpPr>
          <p:cNvPr id="9" name="Shape 7"/>
          <p:cNvSpPr/>
          <p:nvPr/>
        </p:nvSpPr>
        <p:spPr>
          <a:xfrm>
            <a:off x="6400800" y="1645920"/>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6400800" y="164592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11" name="Text 9"/>
          <p:cNvSpPr txBox="1"/>
          <p:nvPr/>
        </p:nvSpPr>
        <p:spPr>
          <a:xfrm>
            <a:off x="6995160" y="1691640"/>
            <a:ext cx="4389120" cy="411480"/>
          </a:xfrm>
          <a:prstGeom prst="rect">
            <a:avLst/>
          </a:prstGeom>
          <a:noFill/>
          <a:ln/>
        </p:spPr>
        <p:txBody>
          <a:bodyPr wrap="square" lIns="0" tIns="0" rIns="0" bIns="0" rtlCol="0" anchor="t"/>
          <a:lstStyle/>
          <a:p>
            <a:pPr marL="0" indent="0">
              <a:buNone/>
            </a:pPr>
            <a:r>
              <a:rPr lang="en-US" sz="1800" b="1" dirty="0">
                <a:solidFill>
                  <a:schemeClr val="tx2"/>
                </a:solidFill>
              </a:rPr>
              <a:t>Sold-out opened the circuit</a:t>
            </a:r>
            <a:endParaRPr lang="en-US" sz="1800" dirty="0"/>
          </a:p>
        </p:txBody>
      </p:sp>
      <p:sp>
        <p:nvSpPr>
          <p:cNvPr id="12" name="Text 10"/>
          <p:cNvSpPr txBox="1"/>
          <p:nvPr/>
        </p:nvSpPr>
        <p:spPr>
          <a:xfrm>
            <a:off x="6400800" y="2286000"/>
            <a:ext cx="4983480" cy="1143000"/>
          </a:xfrm>
          <a:prstGeom prst="rect">
            <a:avLst/>
          </a:prstGeom>
          <a:noFill/>
          <a:ln/>
        </p:spPr>
        <p:txBody>
          <a:bodyPr wrap="square" lIns="0" tIns="0" rIns="0" bIns="0" rtlCol="0" anchor="t"/>
          <a:lstStyle/>
          <a:p>
            <a:pPr marL="0" indent="0">
              <a:buNone/>
            </a:pPr>
            <a:r>
              <a:rPr lang="en-US" sz="1500" dirty="0">
                <a:solidFill>
                  <a:schemeClr val="tx1"/>
                </a:solidFill>
              </a:rPr>
              <a:t>Out-of-stock counted as a failure: three sold-out orders gave every customer 503.</a:t>
            </a:r>
            <a:endParaRPr lang="en-US" sz="1500" dirty="0"/>
          </a:p>
        </p:txBody>
      </p:sp>
      <p:sp>
        <p:nvSpPr>
          <p:cNvPr id="13" name="Shape 11"/>
          <p:cNvSpPr/>
          <p:nvPr/>
        </p:nvSpPr>
        <p:spPr>
          <a:xfrm>
            <a:off x="548640" y="3749040"/>
            <a:ext cx="5440680" cy="2103120"/>
          </a:xfrm>
          <a:prstGeom prst="roundRect">
            <a:avLst>
              <a:gd name="adj" fmla="val 3478"/>
            </a:avLst>
          </a:prstGeom>
          <a:solidFill>
            <a:schemeClr val="bg2"/>
          </a:solidFill>
          <a:ln w="12700">
            <a:solidFill>
              <a:schemeClr val="bg2"/>
            </a:solidFill>
            <a:prstDash val="solid"/>
          </a:ln>
        </p:spPr>
      </p:sp>
      <p:sp>
        <p:nvSpPr>
          <p:cNvPr id="14" name="Shape 12"/>
          <p:cNvSpPr/>
          <p:nvPr/>
        </p:nvSpPr>
        <p:spPr>
          <a:xfrm>
            <a:off x="777240" y="3977640"/>
            <a:ext cx="457200" cy="457200"/>
          </a:xfrm>
          <a:prstGeom prst="ellipse">
            <a:avLst/>
          </a:prstGeom>
          <a:solidFill>
            <a:schemeClr val="accent2"/>
          </a:solidFill>
          <a:ln w="12700">
            <a:solidFill>
              <a:schemeClr val="accent2"/>
            </a:solidFill>
            <a:prstDash val="solid"/>
          </a:ln>
        </p:spPr>
      </p:sp>
      <p:sp>
        <p:nvSpPr>
          <p:cNvPr id="15" name="Text 13"/>
          <p:cNvSpPr txBox="1"/>
          <p:nvPr/>
        </p:nvSpPr>
        <p:spPr>
          <a:xfrm>
            <a:off x="777240" y="397764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16" name="Text 14"/>
          <p:cNvSpPr txBox="1"/>
          <p:nvPr/>
        </p:nvSpPr>
        <p:spPr>
          <a:xfrm>
            <a:off x="1371600" y="4023360"/>
            <a:ext cx="4389120" cy="411480"/>
          </a:xfrm>
          <a:prstGeom prst="rect">
            <a:avLst/>
          </a:prstGeom>
          <a:noFill/>
          <a:ln/>
        </p:spPr>
        <p:txBody>
          <a:bodyPr wrap="square" lIns="0" tIns="0" rIns="0" bIns="0" rtlCol="0" anchor="t"/>
          <a:lstStyle/>
          <a:p>
            <a:pPr marL="0" indent="0">
              <a:buNone/>
            </a:pPr>
            <a:r>
              <a:rPr lang="en-US" sz="1800" b="1" dirty="0">
                <a:solidFill>
                  <a:schemeClr val="tx2"/>
                </a:solidFill>
              </a:rPr>
              <a:t>Saga steps could vanish</a:t>
            </a:r>
            <a:endParaRPr lang="en-US" sz="1800" dirty="0"/>
          </a:p>
        </p:txBody>
      </p:sp>
      <p:sp>
        <p:nvSpPr>
          <p:cNvPr id="17" name="Text 15"/>
          <p:cNvSpPr txBox="1"/>
          <p:nvPr/>
        </p:nvSpPr>
        <p:spPr>
          <a:xfrm>
            <a:off x="777240" y="4617720"/>
            <a:ext cx="4983480" cy="1143000"/>
          </a:xfrm>
          <a:prstGeom prst="rect">
            <a:avLst/>
          </a:prstGeom>
          <a:noFill/>
          <a:ln/>
        </p:spPr>
        <p:txBody>
          <a:bodyPr wrap="square" lIns="0" tIns="0" rIns="0" bIns="0" rtlCol="0" anchor="t"/>
          <a:lstStyle/>
          <a:p>
            <a:pPr marL="0" indent="0">
              <a:buNone/>
            </a:pPr>
            <a:r>
              <a:rPr lang="en-US" sz="1500" dirty="0">
                <a:solidFill>
                  <a:schemeClr val="tx1"/>
                </a:solidFill>
              </a:rPr>
              <a:t>Order and inventory listeners swallowed errors; now retry → DLT, proven on a real broker.</a:t>
            </a:r>
            <a:endParaRPr lang="en-US" sz="1500" dirty="0"/>
          </a:p>
        </p:txBody>
      </p:sp>
      <p:sp>
        <p:nvSpPr>
          <p:cNvPr id="18" name="Shape 16"/>
          <p:cNvSpPr/>
          <p:nvPr/>
        </p:nvSpPr>
        <p:spPr>
          <a:xfrm>
            <a:off x="6172200" y="3749040"/>
            <a:ext cx="5440680" cy="2103120"/>
          </a:xfrm>
          <a:prstGeom prst="roundRect">
            <a:avLst>
              <a:gd name="adj" fmla="val 3478"/>
            </a:avLst>
          </a:prstGeom>
          <a:solidFill>
            <a:schemeClr val="bg2"/>
          </a:solidFill>
          <a:ln w="12700">
            <a:solidFill>
              <a:schemeClr val="bg2"/>
            </a:solidFill>
            <a:prstDash val="solid"/>
          </a:ln>
        </p:spPr>
      </p:sp>
      <p:sp>
        <p:nvSpPr>
          <p:cNvPr id="19" name="Shape 17"/>
          <p:cNvSpPr/>
          <p:nvPr/>
        </p:nvSpPr>
        <p:spPr>
          <a:xfrm>
            <a:off x="6400800" y="3977640"/>
            <a:ext cx="457200" cy="457200"/>
          </a:xfrm>
          <a:prstGeom prst="ellipse">
            <a:avLst/>
          </a:prstGeom>
          <a:solidFill>
            <a:schemeClr val="accent2"/>
          </a:solidFill>
          <a:ln w="12700">
            <a:solidFill>
              <a:schemeClr val="accent2"/>
            </a:solidFill>
            <a:prstDash val="solid"/>
          </a:ln>
        </p:spPr>
      </p:sp>
      <p:sp>
        <p:nvSpPr>
          <p:cNvPr id="20" name="Text 18"/>
          <p:cNvSpPr txBox="1"/>
          <p:nvPr/>
        </p:nvSpPr>
        <p:spPr>
          <a:xfrm>
            <a:off x="6400800" y="397764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21" name="Text 19"/>
          <p:cNvSpPr txBox="1"/>
          <p:nvPr/>
        </p:nvSpPr>
        <p:spPr>
          <a:xfrm>
            <a:off x="6995160" y="4023360"/>
            <a:ext cx="4389120" cy="411480"/>
          </a:xfrm>
          <a:prstGeom prst="rect">
            <a:avLst/>
          </a:prstGeom>
          <a:noFill/>
          <a:ln/>
        </p:spPr>
        <p:txBody>
          <a:bodyPr wrap="square" lIns="0" tIns="0" rIns="0" bIns="0" rtlCol="0" anchor="t"/>
          <a:lstStyle/>
          <a:p>
            <a:pPr marL="0" indent="0">
              <a:buNone/>
            </a:pPr>
            <a:r>
              <a:rPr lang="en-US" sz="1800" b="1" dirty="0">
                <a:solidFill>
                  <a:schemeClr val="tx2"/>
                </a:solidFill>
              </a:rPr>
              <a:t>Coverage gate never ran</a:t>
            </a:r>
            <a:endParaRPr lang="en-US" sz="1800" dirty="0"/>
          </a:p>
        </p:txBody>
      </p:sp>
      <p:sp>
        <p:nvSpPr>
          <p:cNvPr id="22" name="Text 20"/>
          <p:cNvSpPr txBox="1"/>
          <p:nvPr/>
        </p:nvSpPr>
        <p:spPr>
          <a:xfrm>
            <a:off x="6400800" y="4617720"/>
            <a:ext cx="4983480" cy="1143000"/>
          </a:xfrm>
          <a:prstGeom prst="rect">
            <a:avLst/>
          </a:prstGeom>
          <a:noFill/>
          <a:ln/>
        </p:spPr>
        <p:txBody>
          <a:bodyPr wrap="square" lIns="0" tIns="0" rIns="0" bIns="0" rtlCol="0" anchor="t"/>
          <a:lstStyle/>
          <a:p>
            <a:pPr marL="0" indent="0">
              <a:buNone/>
            </a:pPr>
            <a:r>
              <a:rPr lang="en-US" sz="1500" dirty="0">
                <a:solidFill>
                  <a:schemeClr val="tx1"/>
                </a:solidFill>
              </a:rPr>
              <a:t>A surefire argLine dropped the JaCoCo agent, so the 60 % check silently skipped.</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
        <p:nvSpPr>
          <p:cNvPr id="23" name="Presenter tag">
            <a:extLst>
              <a:ext uri="{FF2B5EF4-FFF2-40B4-BE49-F238E27FC236}">
                <a16:creationId xmlns:a16="http://schemas.microsoft.com/office/drawing/2014/main" id="{14C7DA3F-06B9-4D43-A608-30E81EB0A954}"/>
              </a:ext>
            </a:extLst>
          </p:cNvPr>
          <p:cNvSpPr/>
          <p:nvPr/>
        </p:nvSpPr>
        <p:spPr>
          <a:xfrm>
            <a:off x="8585200" y="6375400"/>
            <a:ext cx="2413000" cy="304800"/>
          </a:xfrm>
          <a:prstGeom prst="roundRect">
            <a:avLst/>
          </a:prstGeom>
          <a:solidFill>
            <a:srgbClr val="0D3B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n-US" sz="1100" b="1">
                <a:solidFill>
                  <a:srgbClr val="FFFFFF"/>
                </a:solidFill>
                <a:latin typeface="Calibri" panose="020F0502020204030204" pitchFamily="34" charset="0"/>
              </a:rPr>
              <a:t>Presenter: Doaa (C)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buNone/>
            </a:pPr>
            <a:r>
              <a:rPr lang="en-US" sz="3200" b="1" dirty="0">
                <a:solidFill>
                  <a:schemeClr val="tx2"/>
                </a:solidFill>
              </a:rPr>
              <a:t>Bonus B2 — Order Analytics</a:t>
            </a:r>
            <a:endParaRPr lang="en-US" sz="3200" dirty="0"/>
          </a:p>
        </p:txBody>
      </p:sp>
      <p:sp>
        <p:nvSpPr>
          <p:cNvPr id="3" name="Shape 1"/>
          <p:cNvSpPr/>
          <p:nvPr/>
        </p:nvSpPr>
        <p:spPr>
          <a:xfrm>
            <a:off x="548640" y="1417320"/>
            <a:ext cx="5394960" cy="4480560"/>
          </a:xfrm>
          <a:prstGeom prst="roundRect">
            <a:avLst>
              <a:gd name="adj" fmla="val 1633"/>
            </a:avLst>
          </a:prstGeom>
          <a:solidFill>
            <a:schemeClr val="bg2"/>
          </a:solidFill>
          <a:ln w="12700">
            <a:solidFill>
              <a:schemeClr val="bg2"/>
            </a:solidFill>
            <a:prstDash val="solid"/>
          </a:ln>
        </p:spPr>
      </p:sp>
      <p:sp>
        <p:nvSpPr>
          <p:cNvPr id="4" name="Text 2"/>
          <p:cNvSpPr txBox="1"/>
          <p:nvPr/>
        </p:nvSpPr>
        <p:spPr>
          <a:xfrm>
            <a:off x="777240" y="1645920"/>
            <a:ext cx="4937760" cy="914400"/>
          </a:xfrm>
          <a:prstGeom prst="rect">
            <a:avLst/>
          </a:prstGeom>
          <a:noFill/>
          <a:ln/>
        </p:spPr>
        <p:txBody>
          <a:bodyPr wrap="square" lIns="0" tIns="0" rIns="0" bIns="0" rtlCol="0" anchor="t"/>
          <a:lstStyle/>
          <a:p>
            <a:pPr marL="0" indent="0">
              <a:buNone/>
            </a:pPr>
            <a:r>
              <a:rPr lang="en-US" sz="1800" b="1" dirty="0">
                <a:solidFill>
                  <a:schemeClr val="tx2"/>
                </a:solidFill>
              </a:rPr>
              <a:t>Operations can see volume, revenue and Saga failures without touching a database</a:t>
            </a:r>
            <a:endParaRPr lang="en-US" sz="1800" dirty="0"/>
          </a:p>
        </p:txBody>
      </p:sp>
      <p:sp>
        <p:nvSpPr>
          <p:cNvPr id="5" name="Text 3"/>
          <p:cNvSpPr txBox="1"/>
          <p:nvPr/>
        </p:nvSpPr>
        <p:spPr>
          <a:xfrm>
            <a:off x="777240" y="2743200"/>
            <a:ext cx="4937760" cy="2926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CQRS read model from order-events (own consumer group)</a:t>
            </a:r>
            <a:endParaRPr lang="en-US" sz="1500" dirty="0"/>
          </a:p>
          <a:p>
            <a:pPr marL="342900" indent="-342900">
              <a:spcAft>
                <a:spcPts val="800"/>
              </a:spcAft>
              <a:buSzPct val="100000"/>
              <a:buChar char="•"/>
            </a:pPr>
            <a:r>
              <a:rPr lang="en-US" sz="1500" dirty="0">
                <a:solidFill>
                  <a:schemeClr val="tx1"/>
                </a:solidFill>
              </a:rPr>
              <a:t>GET /api/v1/analytics/summary — ADMIN only</a:t>
            </a:r>
            <a:endParaRPr lang="en-US" sz="1500" dirty="0"/>
          </a:p>
          <a:p>
            <a:pPr marL="342900" indent="-342900">
              <a:spcAft>
                <a:spcPts val="800"/>
              </a:spcAft>
              <a:buSzPct val="100000"/>
              <a:buChar char="•"/>
            </a:pPr>
            <a:r>
              <a:rPr lang="en-US" sz="1500" dirty="0">
                <a:solidFill>
                  <a:schemeClr val="tx1"/>
                </a:solidFill>
              </a:rPr>
              <a:t>A redelivered event never changes a count</a:t>
            </a:r>
            <a:endParaRPr lang="en-US" sz="1500" dirty="0"/>
          </a:p>
          <a:p>
            <a:pPr marL="342900" indent="-342900">
              <a:spcAft>
                <a:spcPts val="800"/>
              </a:spcAft>
              <a:buSzPct val="100000"/>
              <a:buChar char="•"/>
            </a:pPr>
            <a:r>
              <a:rPr lang="en-US" sz="1500" dirty="0">
                <a:solidFill>
                  <a:schemeClr val="tx1"/>
                </a:solidFill>
              </a:rPr>
              <a:t>Grafana: orders/min by status, revenue, Saga failure rate</a:t>
            </a:r>
            <a:endParaRPr lang="en-US" sz="1500" dirty="0"/>
          </a:p>
        </p:txBody>
      </p:sp>
      <p:sp>
        <p:nvSpPr>
          <p:cNvPr id="6" name="Shape 4"/>
          <p:cNvSpPr/>
          <p:nvPr/>
        </p:nvSpPr>
        <p:spPr>
          <a:xfrm>
            <a:off x="6309360" y="1417320"/>
            <a:ext cx="5303520" cy="1325880"/>
          </a:xfrm>
          <a:prstGeom prst="roundRect">
            <a:avLst>
              <a:gd name="adj" fmla="val 5517"/>
            </a:avLst>
          </a:prstGeom>
          <a:solidFill>
            <a:schemeClr val="bg2"/>
          </a:solidFill>
          <a:ln w="12700">
            <a:solidFill>
              <a:schemeClr val="bg2"/>
            </a:solidFill>
            <a:prstDash val="solid"/>
          </a:ln>
        </p:spPr>
      </p:sp>
      <p:sp>
        <p:nvSpPr>
          <p:cNvPr id="7" name="Text 5"/>
          <p:cNvSpPr txBox="1"/>
          <p:nvPr/>
        </p:nvSpPr>
        <p:spPr>
          <a:xfrm>
            <a:off x="6583680" y="1600200"/>
            <a:ext cx="1645920" cy="960120"/>
          </a:xfrm>
          <a:prstGeom prst="rect">
            <a:avLst/>
          </a:prstGeom>
          <a:noFill/>
          <a:ln/>
        </p:spPr>
        <p:txBody>
          <a:bodyPr wrap="square" lIns="0" tIns="0" rIns="0" bIns="0" rtlCol="0" anchor="ctr"/>
          <a:lstStyle/>
          <a:p>
            <a:pPr marL="0" indent="0">
              <a:buNone/>
            </a:pPr>
            <a:r>
              <a:rPr lang="en-US" sz="4000" b="1" dirty="0">
                <a:solidFill>
                  <a:schemeClr val="accent2"/>
                </a:solidFill>
              </a:rPr>
              <a:t>0</a:t>
            </a:r>
            <a:endParaRPr lang="en-US" sz="4000" dirty="0"/>
          </a:p>
        </p:txBody>
      </p:sp>
      <p:sp>
        <p:nvSpPr>
          <p:cNvPr id="8" name="Text 6"/>
          <p:cNvSpPr txBox="1"/>
          <p:nvPr/>
        </p:nvSpPr>
        <p:spPr>
          <a:xfrm>
            <a:off x="8321040" y="1600200"/>
            <a:ext cx="3108960" cy="960120"/>
          </a:xfrm>
          <a:prstGeom prst="rect">
            <a:avLst/>
          </a:prstGeom>
          <a:noFill/>
          <a:ln/>
        </p:spPr>
        <p:txBody>
          <a:bodyPr wrap="square" lIns="0" tIns="0" rIns="0" bIns="0" rtlCol="0" anchor="ctr"/>
          <a:lstStyle/>
          <a:p>
            <a:pPr marL="0" indent="0">
              <a:buNone/>
            </a:pPr>
            <a:r>
              <a:rPr lang="en-US" sz="1600" dirty="0">
                <a:solidFill>
                  <a:schemeClr val="tx1"/>
                </a:solidFill>
              </a:rPr>
              <a:t>new deployables, charts or databases</a:t>
            </a:r>
            <a:endParaRPr lang="en-US" sz="1600" dirty="0"/>
          </a:p>
        </p:txBody>
      </p:sp>
      <p:sp>
        <p:nvSpPr>
          <p:cNvPr id="9" name="Shape 7"/>
          <p:cNvSpPr/>
          <p:nvPr/>
        </p:nvSpPr>
        <p:spPr>
          <a:xfrm>
            <a:off x="6309360" y="2971800"/>
            <a:ext cx="5303520" cy="1325880"/>
          </a:xfrm>
          <a:prstGeom prst="roundRect">
            <a:avLst>
              <a:gd name="adj" fmla="val 5517"/>
            </a:avLst>
          </a:prstGeom>
          <a:solidFill>
            <a:schemeClr val="bg2"/>
          </a:solidFill>
          <a:ln w="12700">
            <a:solidFill>
              <a:schemeClr val="bg2"/>
            </a:solidFill>
            <a:prstDash val="solid"/>
          </a:ln>
        </p:spPr>
      </p:sp>
      <p:sp>
        <p:nvSpPr>
          <p:cNvPr id="10" name="Text 8"/>
          <p:cNvSpPr txBox="1"/>
          <p:nvPr/>
        </p:nvSpPr>
        <p:spPr>
          <a:xfrm>
            <a:off x="6583680" y="3154680"/>
            <a:ext cx="1645920" cy="960120"/>
          </a:xfrm>
          <a:prstGeom prst="rect">
            <a:avLst/>
          </a:prstGeom>
          <a:noFill/>
          <a:ln/>
        </p:spPr>
        <p:txBody>
          <a:bodyPr wrap="square" lIns="0" tIns="0" rIns="0" bIns="0" rtlCol="0" anchor="ctr"/>
          <a:lstStyle/>
          <a:p>
            <a:pPr marL="0" indent="0">
              <a:buNone/>
            </a:pPr>
            <a:r>
              <a:rPr lang="en-US" sz="4000" b="1" dirty="0">
                <a:solidFill>
                  <a:schemeClr val="accent2"/>
                </a:solidFill>
              </a:rPr>
              <a:t>V50+</a:t>
            </a:r>
            <a:endParaRPr lang="en-US" sz="4000" dirty="0"/>
          </a:p>
        </p:txBody>
      </p:sp>
      <p:sp>
        <p:nvSpPr>
          <p:cNvPr id="11" name="Text 9"/>
          <p:cNvSpPr txBox="1"/>
          <p:nvPr/>
        </p:nvSpPr>
        <p:spPr>
          <a:xfrm>
            <a:off x="8321040" y="3154680"/>
            <a:ext cx="3108960" cy="960120"/>
          </a:xfrm>
          <a:prstGeom prst="rect">
            <a:avLst/>
          </a:prstGeom>
          <a:noFill/>
          <a:ln/>
        </p:spPr>
        <p:txBody>
          <a:bodyPr wrap="square" lIns="0" tIns="0" rIns="0" bIns="0" rtlCol="0" anchor="ctr"/>
          <a:lstStyle/>
          <a:p>
            <a:pPr marL="0" indent="0">
              <a:buNone/>
            </a:pPr>
            <a:r>
              <a:rPr lang="en-US" sz="1600" dirty="0">
                <a:solidFill>
                  <a:schemeClr val="tx1"/>
                </a:solidFill>
              </a:rPr>
              <a:t>own migrations in order_db</a:t>
            </a:r>
            <a:endParaRPr lang="en-US" sz="1600" dirty="0"/>
          </a:p>
        </p:txBody>
      </p:sp>
      <p:sp>
        <p:nvSpPr>
          <p:cNvPr id="12" name="Shape 10"/>
          <p:cNvSpPr/>
          <p:nvPr/>
        </p:nvSpPr>
        <p:spPr>
          <a:xfrm>
            <a:off x="6309360" y="4526280"/>
            <a:ext cx="5303520" cy="1325880"/>
          </a:xfrm>
          <a:prstGeom prst="roundRect">
            <a:avLst>
              <a:gd name="adj" fmla="val 5517"/>
            </a:avLst>
          </a:prstGeom>
          <a:solidFill>
            <a:schemeClr val="bg2"/>
          </a:solidFill>
          <a:ln w="12700">
            <a:solidFill>
              <a:schemeClr val="bg2"/>
            </a:solidFill>
            <a:prstDash val="solid"/>
          </a:ln>
        </p:spPr>
      </p:sp>
      <p:sp>
        <p:nvSpPr>
          <p:cNvPr id="13" name="Text 11"/>
          <p:cNvSpPr txBox="1"/>
          <p:nvPr/>
        </p:nvSpPr>
        <p:spPr>
          <a:xfrm>
            <a:off x="6583680" y="4709160"/>
            <a:ext cx="1645920" cy="960120"/>
          </a:xfrm>
          <a:prstGeom prst="rect">
            <a:avLst/>
          </a:prstGeom>
          <a:noFill/>
          <a:ln/>
        </p:spPr>
        <p:txBody>
          <a:bodyPr wrap="square" lIns="0" tIns="0" rIns="0" bIns="0" rtlCol="0" anchor="ctr"/>
          <a:lstStyle/>
          <a:p>
            <a:pPr marL="0" indent="0">
              <a:buNone/>
            </a:pPr>
            <a:r>
              <a:rPr lang="en-US" sz="4000" b="1" dirty="0">
                <a:solidFill>
                  <a:schemeClr val="accent2"/>
                </a:solidFill>
              </a:rPr>
              <a:t>5</a:t>
            </a:r>
            <a:endParaRPr lang="en-US" sz="4000" dirty="0"/>
          </a:p>
        </p:txBody>
      </p:sp>
      <p:sp>
        <p:nvSpPr>
          <p:cNvPr id="14" name="Text 12"/>
          <p:cNvSpPr txBox="1"/>
          <p:nvPr/>
        </p:nvSpPr>
        <p:spPr>
          <a:xfrm>
            <a:off x="8321040" y="4709160"/>
            <a:ext cx="3108960" cy="960120"/>
          </a:xfrm>
          <a:prstGeom prst="rect">
            <a:avLst/>
          </a:prstGeom>
          <a:noFill/>
          <a:ln/>
        </p:spPr>
        <p:txBody>
          <a:bodyPr wrap="square" lIns="0" tIns="0" rIns="0" bIns="0" rtlCol="0" anchor="ctr"/>
          <a:lstStyle/>
          <a:p>
            <a:pPr marL="0" indent="0">
              <a:buNone/>
            </a:pPr>
            <a:r>
              <a:rPr lang="en-US" sz="1600" dirty="0">
                <a:solidFill>
                  <a:schemeClr val="tx1"/>
                </a:solidFill>
              </a:rPr>
              <a:t>Grafana panels (3 required)</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
        <p:nvSpPr>
          <p:cNvPr id="15" name="Presenter tag">
            <a:extLst>
              <a:ext uri="{FF2B5EF4-FFF2-40B4-BE49-F238E27FC236}">
                <a16:creationId xmlns:a16="http://schemas.microsoft.com/office/drawing/2014/main" id="{BA6910E7-E0CD-4FAF-80B0-B7DAEA06EE27}"/>
              </a:ext>
            </a:extLst>
          </p:cNvPr>
          <p:cNvSpPr/>
          <p:nvPr/>
        </p:nvSpPr>
        <p:spPr>
          <a:xfrm>
            <a:off x="8585200" y="6375400"/>
            <a:ext cx="2413000" cy="304800"/>
          </a:xfrm>
          <a:prstGeom prst="roundRect">
            <a:avLst/>
          </a:prstGeom>
          <a:solidFill>
            <a:srgbClr val="0D3B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n-US" sz="1100" b="1">
                <a:solidFill>
                  <a:srgbClr val="FFFFFF"/>
                </a:solidFill>
                <a:latin typeface="Calibri" panose="020F0502020204030204" pitchFamily="34" charset="0"/>
              </a:rPr>
              <a:t>Presenter: Doaa (C)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buNone/>
            </a:pPr>
            <a:r>
              <a:rPr lang="en-US" sz="3200" b="1" dirty="0">
                <a:solidFill>
                  <a:schemeClr val="tx2"/>
                </a:solidFill>
              </a:rPr>
              <a:t>From laptop to cluster</a:t>
            </a:r>
            <a:endParaRPr lang="en-US" sz="3200" dirty="0"/>
          </a:p>
        </p:txBody>
      </p:sp>
      <p:sp>
        <p:nvSpPr>
          <p:cNvPr id="3" name="Shape 1"/>
          <p:cNvSpPr/>
          <p:nvPr/>
        </p:nvSpPr>
        <p:spPr>
          <a:xfrm>
            <a:off x="548640" y="160020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548640" y="160020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5" name="Text 3"/>
          <p:cNvSpPr txBox="1"/>
          <p:nvPr/>
        </p:nvSpPr>
        <p:spPr>
          <a:xfrm>
            <a:off x="1188720" y="1600200"/>
            <a:ext cx="2377440" cy="457200"/>
          </a:xfrm>
          <a:prstGeom prst="rect">
            <a:avLst/>
          </a:prstGeom>
          <a:noFill/>
          <a:ln/>
        </p:spPr>
        <p:txBody>
          <a:bodyPr wrap="square" lIns="0" tIns="0" rIns="0" bIns="0" rtlCol="0" anchor="t"/>
          <a:lstStyle/>
          <a:p>
            <a:pPr marL="0" indent="0">
              <a:buNone/>
            </a:pPr>
            <a:r>
              <a:rPr lang="en-US" sz="1800" b="1" dirty="0">
                <a:solidFill>
                  <a:schemeClr val="tx2"/>
                </a:solidFill>
              </a:rPr>
              <a:t>Docker Compose</a:t>
            </a:r>
            <a:endParaRPr lang="en-US" sz="1800" dirty="0"/>
          </a:p>
        </p:txBody>
      </p:sp>
      <p:sp>
        <p:nvSpPr>
          <p:cNvPr id="6" name="Text 4"/>
          <p:cNvSpPr txBox="1"/>
          <p:nvPr/>
        </p:nvSpPr>
        <p:spPr>
          <a:xfrm>
            <a:off x="3657600" y="1600200"/>
            <a:ext cx="7955280" cy="822960"/>
          </a:xfrm>
          <a:prstGeom prst="rect">
            <a:avLst/>
          </a:prstGeom>
          <a:noFill/>
          <a:ln/>
        </p:spPr>
        <p:txBody>
          <a:bodyPr wrap="square" lIns="0" tIns="0" rIns="0" bIns="0" rtlCol="0" anchor="t"/>
          <a:lstStyle/>
          <a:p>
            <a:pPr marL="0" indent="0">
              <a:buNone/>
            </a:pPr>
            <a:r>
              <a:rPr lang="en-US" sz="1500" dirty="0">
                <a:solidFill>
                  <a:schemeClr val="tx1"/>
                </a:solidFill>
              </a:rPr>
              <a:t>17 containers healthy; scripts/verify-l0.sh checks infra, config-server and Eureka registration</a:t>
            </a:r>
            <a:endParaRPr lang="en-US" sz="1500" dirty="0"/>
          </a:p>
        </p:txBody>
      </p:sp>
      <p:sp>
        <p:nvSpPr>
          <p:cNvPr id="7" name="Shape 5"/>
          <p:cNvSpPr/>
          <p:nvPr/>
        </p:nvSpPr>
        <p:spPr>
          <a:xfrm>
            <a:off x="548640" y="2743200"/>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548640" y="274320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Text 7"/>
          <p:cNvSpPr txBox="1"/>
          <p:nvPr/>
        </p:nvSpPr>
        <p:spPr>
          <a:xfrm>
            <a:off x="1188720" y="2743200"/>
            <a:ext cx="2377440" cy="457200"/>
          </a:xfrm>
          <a:prstGeom prst="rect">
            <a:avLst/>
          </a:prstGeom>
          <a:noFill/>
          <a:ln/>
        </p:spPr>
        <p:txBody>
          <a:bodyPr wrap="square" lIns="0" tIns="0" rIns="0" bIns="0" rtlCol="0" anchor="t"/>
          <a:lstStyle/>
          <a:p>
            <a:pPr marL="0" indent="0">
              <a:buNone/>
            </a:pPr>
            <a:r>
              <a:rPr lang="en-US" sz="1800" b="1" dirty="0">
                <a:solidFill>
                  <a:schemeClr val="tx2"/>
                </a:solidFill>
              </a:rPr>
              <a:t>Images</a:t>
            </a:r>
            <a:endParaRPr lang="en-US" sz="1800" dirty="0"/>
          </a:p>
        </p:txBody>
      </p:sp>
      <p:sp>
        <p:nvSpPr>
          <p:cNvPr id="10" name="Text 8"/>
          <p:cNvSpPr txBox="1"/>
          <p:nvPr/>
        </p:nvSpPr>
        <p:spPr>
          <a:xfrm>
            <a:off x="3657600" y="2743200"/>
            <a:ext cx="7955280" cy="822960"/>
          </a:xfrm>
          <a:prstGeom prst="rect">
            <a:avLst/>
          </a:prstGeom>
          <a:noFill/>
          <a:ln/>
        </p:spPr>
        <p:txBody>
          <a:bodyPr wrap="square" lIns="0" tIns="0" rIns="0" bIns="0" rtlCol="0" anchor="t"/>
          <a:lstStyle/>
          <a:p>
            <a:pPr marL="0" indent="0">
              <a:buNone/>
            </a:pPr>
            <a:r>
              <a:rPr lang="en-US" sz="1500" dirty="0">
                <a:solidFill>
                  <a:schemeClr val="tx1"/>
                </a:solidFill>
              </a:rPr>
              <a:t>multi-stage, non-root, HEALTHCHECK; CI: test gate → build → push to GHCR tagged with the commit SHA</a:t>
            </a:r>
            <a:endParaRPr lang="en-US" sz="1500" dirty="0"/>
          </a:p>
        </p:txBody>
      </p:sp>
      <p:sp>
        <p:nvSpPr>
          <p:cNvPr id="11" name="Shape 9"/>
          <p:cNvSpPr/>
          <p:nvPr/>
        </p:nvSpPr>
        <p:spPr>
          <a:xfrm>
            <a:off x="548640" y="3886200"/>
            <a:ext cx="457200" cy="457200"/>
          </a:xfrm>
          <a:prstGeom prst="ellipse">
            <a:avLst/>
          </a:prstGeom>
          <a:solidFill>
            <a:schemeClr val="accent1"/>
          </a:solidFill>
          <a:ln w="12700">
            <a:solidFill>
              <a:schemeClr val="accent1"/>
            </a:solidFill>
            <a:prstDash val="solid"/>
          </a:ln>
        </p:spPr>
      </p:sp>
      <p:sp>
        <p:nvSpPr>
          <p:cNvPr id="12" name="Text 10"/>
          <p:cNvSpPr txBox="1"/>
          <p:nvPr/>
        </p:nvSpPr>
        <p:spPr>
          <a:xfrm>
            <a:off x="548640" y="388620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3" name="Text 11"/>
          <p:cNvSpPr txBox="1"/>
          <p:nvPr/>
        </p:nvSpPr>
        <p:spPr>
          <a:xfrm>
            <a:off x="1188720" y="3886200"/>
            <a:ext cx="2377440" cy="457200"/>
          </a:xfrm>
          <a:prstGeom prst="rect">
            <a:avLst/>
          </a:prstGeom>
          <a:noFill/>
          <a:ln/>
        </p:spPr>
        <p:txBody>
          <a:bodyPr wrap="square" lIns="0" tIns="0" rIns="0" bIns="0" rtlCol="0" anchor="t"/>
          <a:lstStyle/>
          <a:p>
            <a:pPr marL="0" indent="0">
              <a:buNone/>
            </a:pPr>
            <a:r>
              <a:rPr lang="en-US" sz="1800" b="1" dirty="0">
                <a:solidFill>
                  <a:schemeClr val="tx2"/>
                </a:solidFill>
              </a:rPr>
              <a:t>Helm</a:t>
            </a:r>
            <a:endParaRPr lang="en-US" sz="1800" dirty="0"/>
          </a:p>
        </p:txBody>
      </p:sp>
      <p:sp>
        <p:nvSpPr>
          <p:cNvPr id="14" name="Text 12"/>
          <p:cNvSpPr txBox="1"/>
          <p:nvPr/>
        </p:nvSpPr>
        <p:spPr>
          <a:xfrm>
            <a:off x="3657600" y="3886200"/>
            <a:ext cx="7955280" cy="822960"/>
          </a:xfrm>
          <a:prstGeom prst="rect">
            <a:avLst/>
          </a:prstGeom>
          <a:noFill/>
          <a:ln/>
        </p:spPr>
        <p:txBody>
          <a:bodyPr wrap="square" lIns="0" tIns="0" rIns="0" bIns="0" rtlCol="0" anchor="t"/>
          <a:lstStyle/>
          <a:p>
            <a:pPr marL="0" indent="0">
              <a:buNone/>
            </a:pPr>
            <a:r>
              <a:rPr lang="en-US" sz="1500" dirty="0">
                <a:solidFill>
                  <a:schemeClr val="tx1"/>
                </a:solidFill>
              </a:rPr>
              <a:t>one shared chart, values per service; probes, ServiceAccount per service, Secrets via envFrom</a:t>
            </a:r>
            <a:endParaRPr lang="en-US" sz="1500" dirty="0"/>
          </a:p>
        </p:txBody>
      </p:sp>
      <p:sp>
        <p:nvSpPr>
          <p:cNvPr id="15" name="Shape 13"/>
          <p:cNvSpPr/>
          <p:nvPr/>
        </p:nvSpPr>
        <p:spPr>
          <a:xfrm>
            <a:off x="548640" y="5029200"/>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548640" y="502920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7" name="Text 15"/>
          <p:cNvSpPr txBox="1"/>
          <p:nvPr/>
        </p:nvSpPr>
        <p:spPr>
          <a:xfrm>
            <a:off x="1188720" y="5029200"/>
            <a:ext cx="2377440" cy="457200"/>
          </a:xfrm>
          <a:prstGeom prst="rect">
            <a:avLst/>
          </a:prstGeom>
          <a:noFill/>
          <a:ln/>
        </p:spPr>
        <p:txBody>
          <a:bodyPr wrap="square" lIns="0" tIns="0" rIns="0" bIns="0" rtlCol="0" anchor="t"/>
          <a:lstStyle/>
          <a:p>
            <a:pPr marL="0" indent="0">
              <a:buNone/>
            </a:pPr>
            <a:r>
              <a:rPr lang="en-US" sz="1800" b="1" dirty="0">
                <a:solidFill>
                  <a:schemeClr val="tx2"/>
                </a:solidFill>
              </a:rPr>
              <a:t>ArgoCD</a:t>
            </a:r>
            <a:endParaRPr lang="en-US" sz="1800" dirty="0"/>
          </a:p>
        </p:txBody>
      </p:sp>
      <p:sp>
        <p:nvSpPr>
          <p:cNvPr id="18" name="Text 16"/>
          <p:cNvSpPr txBox="1"/>
          <p:nvPr/>
        </p:nvSpPr>
        <p:spPr>
          <a:xfrm>
            <a:off x="3657600" y="5029200"/>
            <a:ext cx="7955280" cy="822960"/>
          </a:xfrm>
          <a:prstGeom prst="rect">
            <a:avLst/>
          </a:prstGeom>
          <a:noFill/>
          <a:ln/>
        </p:spPr>
        <p:txBody>
          <a:bodyPr wrap="square" lIns="0" tIns="0" rIns="0" bIns="0" rtlCol="0" anchor="t"/>
          <a:lstStyle/>
          <a:p>
            <a:pPr marL="0" indent="0">
              <a:buNone/>
            </a:pPr>
            <a:r>
              <a:rPr lang="en-US" sz="1500" dirty="0">
                <a:solidFill>
                  <a:schemeClr val="tx1"/>
                </a:solidFill>
              </a:rPr>
              <a:t>ApplicationSet, automated + selfHeal + prune; a manual change in the cluster is reverted to Git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13</a:t>
            </a:fld>
            <a:endParaRPr lang="en-US"/>
          </a:p>
        </p:txBody>
      </p:sp>
      <p:sp>
        <p:nvSpPr>
          <p:cNvPr id="19" name="Presenter tag">
            <a:extLst>
              <a:ext uri="{FF2B5EF4-FFF2-40B4-BE49-F238E27FC236}">
                <a16:creationId xmlns:a16="http://schemas.microsoft.com/office/drawing/2014/main" id="{F364C54A-EB48-41BE-8E8B-E6C6467E278F}"/>
              </a:ext>
            </a:extLst>
          </p:cNvPr>
          <p:cNvSpPr/>
          <p:nvPr/>
        </p:nvSpPr>
        <p:spPr>
          <a:xfrm>
            <a:off x="8585200" y="6375400"/>
            <a:ext cx="2413000" cy="304800"/>
          </a:xfrm>
          <a:prstGeom prst="roundRect">
            <a:avLst/>
          </a:prstGeom>
          <a:solidFill>
            <a:srgbClr val="0D3B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n-US" sz="1100" b="1">
                <a:solidFill>
                  <a:srgbClr val="FFFFFF"/>
                </a:solidFill>
                <a:latin typeface="Calibri" panose="020F0502020204030204" pitchFamily="34" charset="0"/>
              </a:rPr>
              <a:t>Presenter: Doaa (C)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buNone/>
            </a:pPr>
            <a:r>
              <a:rPr lang="en-US" sz="3200" b="1" dirty="0">
                <a:solidFill>
                  <a:schemeClr val="tx2"/>
                </a:solidFill>
              </a:rPr>
              <a:t>If we started again</a:t>
            </a:r>
            <a:endParaRPr lang="en-US" sz="3200" dirty="0"/>
          </a:p>
        </p:txBody>
      </p:sp>
      <p:sp>
        <p:nvSpPr>
          <p:cNvPr id="3" name="Text 1"/>
          <p:cNvSpPr txBox="1"/>
          <p:nvPr/>
        </p:nvSpPr>
        <p:spPr>
          <a:xfrm>
            <a:off x="548640" y="1371600"/>
            <a:ext cx="5486400" cy="457200"/>
          </a:xfrm>
          <a:prstGeom prst="rect">
            <a:avLst/>
          </a:prstGeom>
          <a:noFill/>
          <a:ln/>
        </p:spPr>
        <p:txBody>
          <a:bodyPr wrap="square" lIns="0" tIns="0" rIns="0" bIns="0" rtlCol="0" anchor="t"/>
          <a:lstStyle/>
          <a:p>
            <a:pPr marL="0" indent="0">
              <a:buNone/>
            </a:pPr>
            <a:r>
              <a:rPr lang="en-US" sz="2000" b="1" dirty="0">
                <a:solidFill>
                  <a:schemeClr val="tx2"/>
                </a:solidFill>
              </a:rPr>
              <a:t>Lessons</a:t>
            </a:r>
            <a:endParaRPr lang="en-US" sz="2000" dirty="0"/>
          </a:p>
        </p:txBody>
      </p:sp>
      <p:sp>
        <p:nvSpPr>
          <p:cNvPr id="4" name="Text 2"/>
          <p:cNvSpPr txBox="1"/>
          <p:nvPr/>
        </p:nvSpPr>
        <p:spPr>
          <a:xfrm>
            <a:off x="548640" y="1920240"/>
            <a:ext cx="5486400" cy="40233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Merge small PRs from day 1; one branch per member hid integration bugs</a:t>
            </a:r>
            <a:endParaRPr lang="en-US" sz="1600" dirty="0"/>
          </a:p>
          <a:p>
            <a:pPr marL="342900" indent="-342900">
              <a:spcAft>
                <a:spcPts val="1000"/>
              </a:spcAft>
              <a:buSzPct val="100000"/>
              <a:buChar char="•"/>
            </a:pPr>
            <a:r>
              <a:rPr lang="en-US" sz="1600" dirty="0">
                <a:solidFill>
                  <a:schemeClr val="tx1"/>
                </a:solidFill>
              </a:rPr>
              <a:t>Run the whole system early: contracts break between green unit tests</a:t>
            </a:r>
            <a:endParaRPr lang="en-US" sz="1600" dirty="0"/>
          </a:p>
          <a:p>
            <a:pPr marL="342900" indent="-342900">
              <a:spcAft>
                <a:spcPts val="1000"/>
              </a:spcAft>
              <a:buSzPct val="100000"/>
              <a:buChar char="•"/>
            </a:pPr>
            <a:r>
              <a:rPr lang="en-US" sz="1600" dirty="0">
                <a:solidFill>
                  <a:schemeClr val="tx1"/>
                </a:solidFill>
              </a:rPr>
              <a:t>An ADD claim is a test not yet written</a:t>
            </a:r>
            <a:endParaRPr lang="en-US" sz="1600" dirty="0"/>
          </a:p>
          <a:p>
            <a:pPr marL="342900" indent="-342900">
              <a:spcAft>
                <a:spcPts val="1000"/>
              </a:spcAft>
              <a:buSzPct val="100000"/>
              <a:buChar char="•"/>
            </a:pPr>
            <a:r>
              <a:rPr lang="en-US" sz="1600" dirty="0">
                <a:solidFill>
                  <a:schemeClr val="tx1"/>
                </a:solidFill>
              </a:rPr>
              <a:t>One fallback, outermost; business answers are not failures</a:t>
            </a:r>
            <a:endParaRPr lang="en-US" sz="1600" dirty="0"/>
          </a:p>
          <a:p>
            <a:pPr marL="342900" indent="-342900">
              <a:spcAft>
                <a:spcPts val="1000"/>
              </a:spcAft>
              <a:buSzPct val="100000"/>
              <a:buChar char="•"/>
            </a:pPr>
            <a:r>
              <a:rPr lang="en-US" sz="1600" dirty="0">
                <a:solidFill>
                  <a:schemeClr val="tx1"/>
                </a:solidFill>
              </a:rPr>
              <a:t>A sweeper must use the saga's outcome, not a timer</a:t>
            </a:r>
            <a:endParaRPr lang="en-US" sz="1600" dirty="0"/>
          </a:p>
        </p:txBody>
      </p:sp>
      <p:sp>
        <p:nvSpPr>
          <p:cNvPr id="5" name="Shape 3"/>
          <p:cNvSpPr/>
          <p:nvPr/>
        </p:nvSpPr>
        <p:spPr>
          <a:xfrm>
            <a:off x="6492240" y="1371600"/>
            <a:ext cx="5120640" cy="4572000"/>
          </a:xfrm>
          <a:prstGeom prst="roundRect">
            <a:avLst>
              <a:gd name="adj" fmla="val 1600"/>
            </a:avLst>
          </a:prstGeom>
          <a:solidFill>
            <a:schemeClr val="bg2"/>
          </a:solidFill>
          <a:ln w="12700">
            <a:solidFill>
              <a:schemeClr val="bg2"/>
            </a:solidFill>
            <a:prstDash val="solid"/>
          </a:ln>
        </p:spPr>
      </p:sp>
      <p:sp>
        <p:nvSpPr>
          <p:cNvPr id="6" name="Text 4"/>
          <p:cNvSpPr txBox="1"/>
          <p:nvPr/>
        </p:nvSpPr>
        <p:spPr>
          <a:xfrm>
            <a:off x="6720840" y="1554480"/>
            <a:ext cx="4663440" cy="457200"/>
          </a:xfrm>
          <a:prstGeom prst="rect">
            <a:avLst/>
          </a:prstGeom>
          <a:noFill/>
          <a:ln/>
        </p:spPr>
        <p:txBody>
          <a:bodyPr wrap="square" lIns="0" tIns="0" rIns="0" bIns="0" rtlCol="0" anchor="t"/>
          <a:lstStyle/>
          <a:p>
            <a:pPr marL="0" indent="0">
              <a:buNone/>
            </a:pPr>
            <a:r>
              <a:rPr lang="en-US" sz="2000" b="1" dirty="0">
                <a:solidFill>
                  <a:schemeClr val="tx2"/>
                </a:solidFill>
              </a:rPr>
              <a:t>Debt we left on purpose</a:t>
            </a:r>
            <a:endParaRPr lang="en-US" sz="2000" dirty="0"/>
          </a:p>
        </p:txBody>
      </p:sp>
      <p:sp>
        <p:nvSpPr>
          <p:cNvPr id="7" name="Text 5"/>
          <p:cNvSpPr txBox="1"/>
          <p:nvPr/>
        </p:nvSpPr>
        <p:spPr>
          <a:xfrm>
            <a:off x="6720840" y="2103120"/>
            <a:ext cx="4663440" cy="3657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No retention job for processed_event / outbox rows</a:t>
            </a:r>
            <a:endParaRPr lang="en-US" sz="1500" dirty="0"/>
          </a:p>
          <a:p>
            <a:pPr marL="342900" indent="-342900">
              <a:spcAft>
                <a:spcPts val="800"/>
              </a:spcAft>
              <a:buSzPct val="100000"/>
              <a:buChar char="•"/>
            </a:pPr>
            <a:r>
              <a:rPr lang="en-US" sz="1500" dirty="0">
                <a:solidFill>
                  <a:schemeClr val="tx1"/>
                </a:solidFill>
              </a:rPr>
              <a:t>DLT replay is manual (rare, needs a human decision)</a:t>
            </a:r>
            <a:endParaRPr lang="en-US" sz="1500" dirty="0"/>
          </a:p>
          <a:p>
            <a:pPr marL="342900" indent="-342900">
              <a:spcAft>
                <a:spcPts val="800"/>
              </a:spcAft>
              <a:buSzPct val="100000"/>
              <a:buChar char="•"/>
            </a:pPr>
            <a:r>
              <a:rPr lang="en-US" sz="1500" dirty="0">
                <a:solidFill>
                  <a:schemeClr val="tx1"/>
                </a:solidFill>
              </a:rPr>
              <a:t>Event classes copied per service; add-only fields</a:t>
            </a:r>
            <a:endParaRPr lang="en-US" sz="1500" dirty="0"/>
          </a:p>
          <a:p>
            <a:pPr marL="342900" indent="-342900">
              <a:spcAft>
                <a:spcPts val="800"/>
              </a:spcAft>
              <a:buSzPct val="100000"/>
              <a:buChar char="•"/>
            </a:pPr>
            <a:r>
              <a:rPr lang="en-US" sz="1500" dirty="0">
                <a:solidFill>
                  <a:schemeClr val="tx1"/>
                </a:solidFill>
              </a:rPr>
              <a:t>No Pact test yet — the contract bug above is the case for it</a:t>
            </a:r>
            <a:endParaRPr lang="en-US" sz="1500" dirty="0"/>
          </a:p>
          <a:p>
            <a:pPr marL="342900" indent="-342900">
              <a:spcAft>
                <a:spcPts val="800"/>
              </a:spcAft>
              <a:buSzPct val="100000"/>
              <a:buChar char="•"/>
            </a:pPr>
            <a:r>
              <a:rPr lang="en-US" sz="1500" dirty="0">
                <a:solidFill>
                  <a:schemeClr val="tx1"/>
                </a:solidFill>
              </a:rPr>
              <a:t>Single Kafka broker (demo scope)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14</a:t>
            </a:fld>
            <a:endParaRPr lang="en-US"/>
          </a:p>
        </p:txBody>
      </p:sp>
      <p:sp>
        <p:nvSpPr>
          <p:cNvPr id="8" name="Presenter tag">
            <a:extLst>
              <a:ext uri="{FF2B5EF4-FFF2-40B4-BE49-F238E27FC236}">
                <a16:creationId xmlns:a16="http://schemas.microsoft.com/office/drawing/2014/main" id="{8C391F85-1FD0-4FB0-A9E6-5E5963AF12EA}"/>
              </a:ext>
            </a:extLst>
          </p:cNvPr>
          <p:cNvSpPr/>
          <p:nvPr/>
        </p:nvSpPr>
        <p:spPr>
          <a:xfrm>
            <a:off x="8585200" y="6375400"/>
            <a:ext cx="2413000" cy="304800"/>
          </a:xfrm>
          <a:prstGeom prst="roundRect">
            <a:avLst/>
          </a:prstGeom>
          <a:solidFill>
            <a:srgbClr val="F2A5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n-US" sz="1100" b="1">
                <a:solidFill>
                  <a:srgbClr val="0D3B4A"/>
                </a:solidFill>
                <a:latin typeface="Calibri" panose="020F0502020204030204" pitchFamily="34" charset="0"/>
              </a:rPr>
              <a:t>Presenter: Mohammed (B)</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280160"/>
          </a:xfrm>
          <a:prstGeom prst="rect">
            <a:avLst/>
          </a:prstGeom>
          <a:noFill/>
          <a:ln/>
        </p:spPr>
        <p:txBody>
          <a:bodyPr wrap="square" rtlCol="0" anchor="b"/>
          <a:lstStyle/>
          <a:p>
            <a:pPr marL="0" indent="0">
              <a:buNone/>
            </a:pPr>
            <a:r>
              <a:rPr lang="en-US" sz="4400" b="1" dirty="0">
                <a:solidFill>
                  <a:schemeClr val="bg1"/>
                </a:solidFill>
              </a:rPr>
              <a:t>Live demo</a:t>
            </a:r>
            <a:endParaRPr lang="en-US" sz="4400" dirty="0"/>
          </a:p>
        </p:txBody>
      </p:sp>
      <p:sp>
        <p:nvSpPr>
          <p:cNvPr id="3" name="Text 0"/>
          <p:cNvSpPr>
            <a:spLocks noGrp="1"/>
          </p:cNvSpPr>
          <p:nvPr>
            <p:ph type="body" idx="101" hasCustomPrompt="1"/>
          </p:nvPr>
        </p:nvSpPr>
        <p:spPr>
          <a:xfrm>
            <a:off x="731520" y="3520440"/>
            <a:ext cx="10698480" cy="1905000"/>
          </a:xfrm>
          <a:prstGeom prst="rect">
            <a:avLst/>
          </a:prstGeom>
          <a:noFill/>
          <a:ln/>
        </p:spPr>
        <p:txBody>
          <a:bodyPr wrap="square" rtlCol="0" anchor="t"/>
          <a:lstStyle/>
          <a:p>
            <a:pPr marL="0" indent="0">
              <a:buNone/>
            </a:pPr>
            <a:r>
              <a:rPr lang="en-US" sz="2000" b="1">
                <a:solidFill>
                  <a:srgbClr val="C77D12"/>
                </a:solidFill>
              </a:rPr>
              <a:t>Mohammed</a:t>
            </a:r>
            <a:r>
              <a:rPr lang="en-US" sz="2000">
                <a:solidFill>
                  <a:schemeClr val="bg2"/>
                </a:solidFill>
              </a:rPr>
              <a:t> — verify-l0 GREEN → order PENDING → CONFIRMED → one Zipkin trace</a:t>
            </a:r>
          </a:p>
          <a:p>
            <a:pPr marL="0" indent="0">
              <a:buNone/>
            </a:pPr>
            <a:r>
              <a:rPr lang="en-US" sz="2000" b="1">
                <a:solidFill>
                  <a:srgbClr val="2A9D8F"/>
                </a:solidFill>
              </a:rPr>
              <a:t>Nourhan</a:t>
            </a:r>
            <a:r>
              <a:rPr lang="en-US" sz="2000">
                <a:solidFill>
                  <a:schemeClr val="bg2"/>
                </a:solidFill>
              </a:rPr>
              <a:t> — 401 / 403 / 429 → k6 load and the gateway fix</a:t>
            </a:r>
          </a:p>
          <a:p>
            <a:pPr marL="0" indent="0">
              <a:buNone/>
            </a:pPr>
            <a:r>
              <a:rPr lang="en-US" sz="2000" b="1">
                <a:solidFill>
                  <a:srgbClr val="BFE0DB"/>
                </a:solidFill>
              </a:rPr>
              <a:t>Doaa</a:t>
            </a:r>
            <a:r>
              <a:rPr lang="en-US" sz="2000">
                <a:solidFill>
                  <a:srgbClr val="EDF3F2"/>
                </a:solidFill>
              </a:rPr>
              <a:t> — payment declined → CANCELLED, stock back → payment down → ArgoCD → B2</a:t>
            </a:r>
          </a:p>
          <a:p>
            <a:pPr marL="0" indent="0">
              <a:buNone/>
            </a:pPr>
            <a:r>
              <a:rPr lang="en-US" sz="2000">
                <a:solidFill>
                  <a:schemeClr val="bg2"/>
                </a:solidFill>
              </a:rPr>
              <a:t>Questions welcome — every member can explain every service</a:t>
            </a:r>
            <a:endParaRPr lang="en-US" sz="2000" dirty="0"/>
          </a:p>
        </p:txBody>
      </p:sp>
      <p:sp>
        <p:nvSpPr>
          <p:cNvPr id="4" name="Presenter tag">
            <a:extLst>
              <a:ext uri="{FF2B5EF4-FFF2-40B4-BE49-F238E27FC236}">
                <a16:creationId xmlns:a16="http://schemas.microsoft.com/office/drawing/2014/main" id="{B141064A-D4A0-4014-85B3-0260E4EE4F2A}"/>
              </a:ext>
            </a:extLst>
          </p:cNvPr>
          <p:cNvSpPr/>
          <p:nvPr/>
        </p:nvSpPr>
        <p:spPr>
          <a:xfrm>
            <a:off x="8585200" y="6375400"/>
            <a:ext cx="2413000" cy="304800"/>
          </a:xfrm>
          <a:prstGeom prst="roundRect">
            <a:avLst/>
          </a:prstGeom>
          <a:solidFill>
            <a:srgbClr val="EDF3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n-US" sz="1100" b="1">
                <a:solidFill>
                  <a:srgbClr val="0D3B4A"/>
                </a:solidFill>
                <a:latin typeface="Calibri" panose="020F0502020204030204" pitchFamily="34" charset="0"/>
              </a:rPr>
              <a:t>All three</a:t>
            </a:r>
          </a:p>
        </p:txBody>
      </p:sp>
    </p:spTree>
  </p:cSld>
  <p:clrMapOvr>
    <a:masterClrMapping/>
  </p:clrMapOvr>
</p:sld>
</file>

<file path=ppt/theme/theme1.xml><?xml version="1.0" encoding="utf-8"?>
<a:theme xmlns:a="http://schemas.openxmlformats.org/drawingml/2006/main" name="Capstone Petrol">
  <a:themeElements>
    <a:clrScheme name="Capstone Petrol">
      <a:dk1>
        <a:srgbClr val="1B2A30"/>
      </a:dk1>
      <a:lt1>
        <a:srgbClr val="FFFFFF"/>
      </a:lt1>
      <a:dk2>
        <a:srgbClr val="0B3C49"/>
      </a:dk2>
      <a:lt2>
        <a:srgbClr val="EDF3F2"/>
      </a:lt2>
      <a:accent1>
        <a:srgbClr val="F2A541"/>
      </a:accent1>
      <a:accent2>
        <a:srgbClr val="2A9D8F"/>
      </a:accent2>
      <a:accent3>
        <a:srgbClr val="C8553D"/>
      </a:accent3>
      <a:accent4>
        <a:srgbClr val="5B7F8C"/>
      </a:accent4>
      <a:accent5>
        <a:srgbClr val="8AB0AB"/>
      </a:accent5>
      <a:accent6>
        <a:srgbClr val="3E5641"/>
      </a:accent6>
      <a:hlink>
        <a:srgbClr val="2A9D8F"/>
      </a:hlink>
      <a:folHlink>
        <a:srgbClr val="5B7F8C"/>
      </a:folHlink>
    </a:clrScheme>
    <a:fontScheme name="Capstone Petro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2718</Words>
  <Application>Microsoft Office PowerPoint</Application>
  <PresentationFormat>Widescreen</PresentationFormat>
  <Paragraphs>291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Capstone Petrol</vt:lpstr>
      <vt:lpstr>Enterprise E-Commerce Platform</vt:lpstr>
      <vt:lpstr>Who presents what</vt:lpstr>
      <vt:lpstr>What we delivered, in four numbers</vt:lpstr>
      <vt:lpstr>Eight services, one entry point, three topics</vt:lpstr>
      <vt:lpstr>The order Saga: choreography + transactional outbox</vt:lpstr>
      <vt:lpstr>Every failure has a defined outcome</vt:lpstr>
      <vt:lpstr>Decisions we can defend</vt:lpstr>
      <vt:lpstr>Security: trust nothing that skipped the gateway</vt:lpstr>
      <vt:lpstr>Performance: one bottleneck found and fixed</vt:lpstr>
      <vt:lpstr>Evidence: tests at every level</vt:lpstr>
      <vt:lpstr>What testing the whole system caught</vt:lpstr>
      <vt:lpstr>Bonus B2 — Order Analytics</vt:lpstr>
      <vt:lpstr>From laptop to cluster</vt:lpstr>
      <vt:lpstr>If we started again</vt:lpstr>
      <vt:lpstr>Live demo</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E-Commerce Platform — Capstone</dc:title>
  <dc:subject>PptxGenJS Presentation</dc:subject>
  <dc:creator>Nourhan Fahmy, Mohammed Selim, Doaa Amr</dc:creator>
  <cp:lastModifiedBy>Nourhan Fahmy Tamam Othman</cp:lastModifiedBy>
  <cp:revision>8</cp:revision>
  <dcterms:created xsi:type="dcterms:W3CDTF">2026-10-06T00:02:43Z</dcterms:created>
  <dcterms:modified xsi:type="dcterms:W3CDTF">2026-10-06T13:08:24Z</dcterms:modified>
</cp:coreProperties>
</file>