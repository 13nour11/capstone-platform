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38108A2-D61F-DFE6-9545-102A5D462D0A}">
          <p14:sldIdLst>
            <p14:sldId id="256"/>
          </p14:sldIdLst>
        </p14:section>
        <p14:section name="Architecture" id="{F76B243D-7286-25EC-9D04-2559ECB70DD9}">
          <p14:sldIdLst>
            <p14:sldId id="257"/>
            <p14:sldId id="258"/>
            <p14:sldId id="259"/>
            <p14:sldId id="260"/>
            <p14:sldId id="261"/>
          </p14:sldIdLst>
        </p14:section>
        <p14:section name="Implementation" id="{B2434C25-559C-09CB-1EBB-EC62F51F9B9B}">
          <p14:sldIdLst>
            <p14:sldId id="262"/>
            <p14:sldId id="263"/>
            <p14:sldId id="264"/>
            <p14:sldId id="265"/>
            <p14:sldId id="266"/>
          </p14:sldIdLst>
        </p14:section>
        <p14:section name="Lessons" id="{1765C54B-27D1-6378-4A08-435ADE8D6A4A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3C49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0B3C49"/>
                </a:solidFill>
                <a:latin typeface="+mn-lt"/>
              </a:rPr>
              <a:t>331 tests per module (mvn verify)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A3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payment-service</c:v>
                </c:pt>
                <c:pt idx="1">
                  <c:v>order-service</c:v>
                </c:pt>
                <c:pt idx="2">
                  <c:v>inventory-service</c:v>
                </c:pt>
                <c:pt idx="3">
                  <c:v>api-gateway</c:v>
                </c:pt>
                <c:pt idx="4">
                  <c:v>product-service</c:v>
                </c:pt>
                <c:pt idx="5">
                  <c:v>notification-service</c:v>
                </c:pt>
                <c:pt idx="6">
                  <c:v>review-service</c:v>
                </c:pt>
                <c:pt idx="7">
                  <c:v>config-server</c:v>
                </c:pt>
                <c:pt idx="8">
                  <c:v>eureka-server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74</c:v>
                </c:pt>
                <c:pt idx="1">
                  <c:v>71</c:v>
                </c:pt>
                <c:pt idx="2">
                  <c:v>54</c:v>
                </c:pt>
                <c:pt idx="3">
                  <c:v>47</c:v>
                </c:pt>
                <c:pt idx="4">
                  <c:v>46</c:v>
                </c:pt>
                <c:pt idx="5">
                  <c:v>24</c:v>
                </c:pt>
                <c:pt idx="6">
                  <c:v>9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8BE-463A-860E-502A698A08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3C4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3C49"/>
                </a:solidFill>
                <a:latin typeface="+mn-lt"/>
              </a:rPr>
              <a:t>k6 load-test.js, full profile, 5 min (ms)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8AB0AB"/>
            </a:solidFill>
            <a:effectLst/>
          </c:spPr>
          <c:invertIfNegative val="0"/>
          <c:dLbls>
            <c:numFmt formatCode="0&quot; ms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A3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GET /products p95</c:v>
                </c:pt>
                <c:pt idx="1">
                  <c:v>POST /orders p95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200</c:v>
                </c:pt>
                <c:pt idx="1">
                  <c:v>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18-4939-8855-48FA13B18E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Measured (20 VUs)</c:v>
                </c:pt>
              </c:strCache>
            </c:strRef>
          </c:tx>
          <c:spPr>
            <a:solidFill>
              <a:srgbClr val="0B3C49"/>
            </a:solidFill>
            <a:effectLst/>
          </c:spPr>
          <c:invertIfNegative val="0"/>
          <c:dLbls>
            <c:numFmt formatCode="0&quot; ms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A3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GET /products p95</c:v>
                </c:pt>
                <c:pt idx="1">
                  <c:v>POST /orders p95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475</c:v>
                </c:pt>
                <c:pt idx="1">
                  <c:v>487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18-4939-8855-48FA13B18EB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5344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promise: an order is never lost and never charged twice, and a stranger can run, deploy and load-test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here is reproducible: mvn verify, scripts/e2e-check.sh, k6/load-test.js.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 database per service, Flyway only. Observability: Zipkin, Prometheus, Grafana, JSON logs with traceId.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traceparent is stored on every outbox row, so one trace spans HTTP and Kafka.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failure modes in ADD §6, each with detection, what the customer sees, mitigation and the test that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a DECISION · OPTIONS · REASON · TRADE-OFF · REVISIT entry in the ADD. Replaced Defaults: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Rate limit: Redis token bucket per user or IP (FR-13); fails open if Redis is down — availability over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on the merged branch, i5-1335U laptop, k6 on the same machine (Performance Report 8.2).</a:t>
            </a:r>
          </a:p>
          <a:p>
            <a:r>
              <a:rPr lang="en-US" dirty="0"/>
              <a:t>Met: throughput 59 req/s (target 50) and errors 0.00 % under load, 0.07 % under stress.</a:t>
            </a:r>
          </a:p>
          <a:p>
            <a:r>
              <a:rPr lang="en-US" dirty="0"/>
              <a:t>Not met here: GET /products p95 below 200 ms. Identical runs gave 475 and 932 ms because the Docker VM is 88 % CPU-busy under the mixed load; the catalogue alone gives 74 to 94 ms.</a:t>
            </a:r>
          </a:p>
          <a:p>
            <a:r>
              <a:rPr lang="en-US" dirty="0"/>
              <a:t>How we found the bottleneck: Zipkin showed 700 ms inside the gateway before forwarding; Java Flight Recorder showed threads waiting on SecureRandom. A session-backed request cache created a WebSession on every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Enterprise E-Commerce Platform · Capstone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Enterprise E-Commerce Platform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Capstone · Microservices with Spring Boot &amp; Spring Cloud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chemeClr val="accent5"/>
                </a:solidFill>
              </a:rPr>
              <a:t>Nourhan Fahmy (A) · Mohammed Selim (B) · Doaa Amr (C) — Trainer: Dr. ElSayed Baladoh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we delivered, in four numbers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828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services behind one secured gateway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383280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828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automated tests, all green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828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39/39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live end-to-end checks pass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052560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828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487 ms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POST /orders p95 at 20 VUs (target 800)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Problem. </a:t>
            </a:r>
            <a:r>
              <a:rPr lang="en-US" sz="1600" dirty="0">
                <a:solidFill>
                  <a:schemeClr val="tx1"/>
                </a:solidFill>
              </a:rPr>
              <a:t>The labs left a platform built one topic at a time: security rebuilt twice, stock in memory, a Saga that could lose or double-apply events, and no way for a stranger to run it. We rebuilt it once, in its final shape.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Core FR-01…FR-16 complete · Bonus B2 Order Analytics + B1, B3, B4 · Docker Compose + Helm + ArgoCD · k6 load, stress and one bottleneck fixed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Eight services, one entry point, three topics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2704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708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browser · Postman · k6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7520" y="1417320"/>
            <a:ext cx="2743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54680" y="15270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api-gateway :8080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18470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JWT · roles · rate limit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41732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5270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Keycloak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8470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realm ecommerce-platform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0" y="1417320"/>
            <a:ext cx="24688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5270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config · eureka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18470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:8888 · :8761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1874520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2880360"/>
            <a:ext cx="20848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299008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product :8081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31012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PG + Redis cache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16352" y="2880360"/>
            <a:ext cx="20848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53512" y="299008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order :8082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953512" y="331012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PG + outbox · Saga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84064" y="2880360"/>
            <a:ext cx="20848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21224" y="299008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inventory :8084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221224" y="331012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PG · reserve/release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51776" y="2880360"/>
            <a:ext cx="20848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88936" y="299008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:8083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88936" y="331012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PG · idempotent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619488" y="2880360"/>
            <a:ext cx="208483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756648" y="299008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notification :8085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56648" y="331012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retry → DLT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389120" y="2331720"/>
            <a:ext cx="0" cy="54864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420624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206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Kafka   order-events  →  inventory-events  →  payment-events      (key = orderId · every topic has a &lt;topic&gt;.DLT)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Sync </a:t>
            </a:r>
            <a:r>
              <a:rPr lang="en-US" sz="1500" dirty="0">
                <a:solidFill>
                  <a:schemeClr val="tx1"/>
                </a:solidFill>
              </a:rPr>
              <a:t>only where the caller needs the answer: order → inventory /check and → product price (Feign + Resilience4j).  </a:t>
            </a:r>
            <a:r>
              <a:rPr lang="en-US" sz="1500" b="1" dirty="0">
                <a:solidFill>
                  <a:schemeClr val="tx2"/>
                </a:solidFill>
              </a:rPr>
              <a:t>Async </a:t>
            </a:r>
            <a:r>
              <a:rPr lang="en-US" sz="1500" dirty="0">
                <a:solidFill>
                  <a:schemeClr val="tx1"/>
                </a:solidFill>
              </a:rPr>
              <a:t>for the business transaction: the customer never waits for payment.</a:t>
            </a:r>
            <a:endParaRPr lang="en-US" sz="15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order Saga: choreography + transactional outbox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270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Order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52704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pre-check stock (Feign), price from catalogue, then ONE transaction: order PENDING + outbox OrderPlaced → 201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95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Inventory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3957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atomic reserve, outbox InventoryReserved (or ReservationFailed)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2644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Payment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2644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charge once per order (UNIQUE order_id), outbox PaymentCompleted / PaymentFailed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1330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Order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413308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PENDING → CONFIRMED, or → CANCELLED; outbox OrderConfirmed / OrderCancelled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0017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Inventory · Notification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500176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consume or release the stock; tell the customer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503920" y="1417320"/>
            <a:ext cx="3108960" cy="429768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32520" y="1600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Why this shape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732520" y="2057400"/>
            <a:ext cx="2697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 participants in a line, no branching → no orchestrator to keep alive (Decision 5-1)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Outbox: an order and its event are never split; Kafka down = event waits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At-least-once + processed_event dedup in the same transaction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Switch to orchestration if a branching rule appears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Every failure has a defined outcome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stock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409 OUT_OF_STOCK before any row exists; payment never touched. Not counted by the circuit breaker.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45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Inventory slow or down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2 s timeout, one retry, circuit breaker, bulkhead → 503 fast; no half-built order.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459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Payment declined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PaymentFailed → stock released, order CANCELLED, customer notified (compensation).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069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Payment down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Events wait in Kafka; order stays PENDING and completes when payment returns (NFR-01).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9768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40233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069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consumer keeps failing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3 retries, then &lt;topic&gt;.DLT + ALERT log; the partition keeps moving (NFR-10).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4023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0" y="4069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Saga stuck / cancel missed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Order sweeper cancels after 10 min; inventory sweeper frees stock of cancelled orders (NFR-05).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Decisions we can defend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Decision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Why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Trade-off we accept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Choreography Saga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3 linear steps; nothing to keep alive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flow spread over 3 services → tracing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Outbox in every producer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no lost or phantom events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at-least-once, ~500 ms poll delay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Release stock by outcome, not age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age-based release oversold a slow-but-paid order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small cancelled_order table in inventory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One fallback, outermost; sold-out ≠ failure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sold-out products used to open the circuit for everyone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a broken 'no' shows as 409s, not an open circuit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JWT checked at gateway AND every service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pods are reachable inside the cluster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signature checked twice (JWKS cached)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B2 inside order-service, own tables V50+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no new deployable, chart or database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30"/>
                          </a:solidFill>
                        </a:rPr>
                        <a:t>shares order-service's lifecycle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Security: trust nothing that skipped the gateway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Gateway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155448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OAuth2 Resource Server (Keycloak); strips X-User-* and sets it from the token; 401/403/429 as RFC 7807; /inventory/check never routed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743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Every service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7432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validates the JWT again; ADMIN on catalogue writes, stock, payments, analytics; customers read only their own orders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931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Service to service (FR-14)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93192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order-service calls inventory with its own client-credentials token (role SERVICE); a customer token gets 403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120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Secrets (NFR-04)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512064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.env and Kubernetes Secrets only; realm export uses ${PLACEHOLDERS}; gitleaks + non-root guard in CI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Evidence: tests at every level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361409617"/>
              </p:ext>
            </p:extLst>
          </p:nvPr>
        </p:nvGraphicFramePr>
        <p:xfrm>
          <a:off x="548640" y="1325880"/>
          <a:ext cx="658368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7498080" y="1417320"/>
            <a:ext cx="41148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52704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85%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9326880" y="15270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order.application line coverage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498080" y="2560320"/>
            <a:ext cx="41148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267004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78%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9326880" y="26700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inventory.application coverage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49808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381304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≥ 60 %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9326880" y="38130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JaCoCo gate fails the build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0" y="49377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Testcontainers </a:t>
            </a:r>
            <a:r>
              <a:rPr lang="en-US" sz="1400" dirty="0">
                <a:solidFill>
                  <a:schemeClr val="tx1"/>
                </a:solidFill>
              </a:rPr>
              <a:t>for every database-owning service · </a:t>
            </a:r>
            <a:r>
              <a:rPr lang="en-US" sz="1400" b="1" dirty="0">
                <a:solidFill>
                  <a:schemeClr val="tx1"/>
                </a:solidFill>
              </a:rPr>
              <a:t>embedded Kafka </a:t>
            </a:r>
            <a:r>
              <a:rPr lang="en-US" sz="1400" dirty="0">
                <a:solidFill>
                  <a:schemeClr val="tx1"/>
                </a:solidFill>
              </a:rPr>
              <a:t>for retry → DLT · </a:t>
            </a:r>
            <a:r>
              <a:rPr lang="en-US" sz="1400" b="1" dirty="0">
                <a:solidFill>
                  <a:schemeClr val="tx1"/>
                </a:solidFill>
              </a:rPr>
              <a:t>WireMock </a:t>
            </a:r>
            <a:r>
              <a:rPr lang="en-US" sz="1400" dirty="0">
                <a:solidFill>
                  <a:schemeClr val="tx1"/>
                </a:solidFill>
              </a:rPr>
              <a:t>for resilience and FR-14 · </a:t>
            </a:r>
            <a:r>
              <a:rPr lang="en-US" sz="1400" b="1" dirty="0">
                <a:solidFill>
                  <a:schemeClr val="tx2"/>
                </a:solidFill>
              </a:rPr>
              <a:t>scripts/e2e-check.sh: 39/39 live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Performance: one bottleneck found and fixed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371585072"/>
              </p:ext>
            </p:extLst>
          </p:nvPr>
        </p:nvGraphicFramePr>
        <p:xfrm>
          <a:off x="548640" y="1325880"/>
          <a:ext cx="60350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6949440" y="1417320"/>
            <a:ext cx="46634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71780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59 req/s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932688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catalogue reads (target ≥ 50)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949440" y="2514600"/>
            <a:ext cx="46634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178040" y="2606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0.00 %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9326880" y="2606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errors over 25,644 </a:t>
            </a:r>
            <a:r>
              <a:rPr lang="en-US" sz="1400">
                <a:solidFill>
                  <a:schemeClr val="tx1"/>
                </a:solidFill>
              </a:rPr>
              <a:t>requests (5 min load)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949440" y="3611880"/>
            <a:ext cx="46634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178040" y="3703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0.07 %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9326880" y="37033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errors over 64,159 requests at up to 150 VUs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48006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Bottleneck found and fixed: </a:t>
            </a:r>
            <a:r>
              <a:rPr lang="en-US" sz="1400" dirty="0">
                <a:solidFill>
                  <a:schemeClr val="tx1"/>
                </a:solidFill>
              </a:rPr>
              <a:t>the gateway built a WebSession per request. Removing it took GET /products p95 </a:t>
            </a:r>
            <a:r>
              <a:rPr lang="en-US" sz="1400">
                <a:solidFill>
                  <a:schemeClr val="tx1"/>
                </a:solidFill>
              </a:rPr>
              <a:t>from 1.23 s to 475 ms </a:t>
            </a:r>
            <a:r>
              <a:rPr lang="en-US" sz="1400" dirty="0">
                <a:solidFill>
                  <a:schemeClr val="tx1"/>
                </a:solidFill>
              </a:rPr>
              <a:t>and POST /orders </a:t>
            </a:r>
            <a:r>
              <a:rPr lang="en-US" sz="1400">
                <a:solidFill>
                  <a:schemeClr val="tx1"/>
                </a:solidFill>
              </a:rPr>
              <a:t>to 487 ms.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Bonus B2 — Order Analytics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Operations can see volume, revenue and Saga failures without touching a database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7432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CQRS read model from order-events (own consumer group)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GET /api/v1/analytics/summary — ADMIN only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redelivered event never changes a count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Grafana: orders/min by status, revenue, Saga failure rate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417320"/>
            <a:ext cx="53035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60020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160020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new deployables, charts or databases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971800"/>
            <a:ext cx="53035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31546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V50+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31546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own migrations in order_db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09360" y="4526280"/>
            <a:ext cx="53035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47091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47091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Grafana panels (3 required)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From laptop to cluster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600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Docker Compose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6002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17 containers healthy; scripts/verify-l0.sh checks infra, config-server and Eureka registration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43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Images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7432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multi-stage, non-root, HEALTHCHECK; CI: test gate → build → push to GHCR tagged with the commit SHA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Helm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8862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one shared chart, values per service; probes, ServiceAccount per service, Secrets via envFrom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5029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ArgoCD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50292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ApplicationSet, automated + selfHeal + prune; a manual change in the cluster is reverted to Git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testing the whole system caught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916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Notification never notified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Unit tests on both sides were green; the live run showed every order event parked on the DLT — two shapes of one contract.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645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6916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Sold-out opened the circuit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28600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Out-of-stock counted as a failure: three sold-out orders gave every customer 503.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977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023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Saga steps could vanish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61772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Order and inventory listeners swallowed errors; now retry → DLT, proven on a real broker.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74904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977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4023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Coverage gate never ran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461772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 surefire argLine dropped the JaCoCo agent, so the 60 % check silently skipped.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If we started again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Lessons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Merge small PRs from day 1; one branch per member hid integration bugs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Run the whole system early: contracts break between green unit tests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 ADD claim is a test not yet written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fallback, outermost; business answers are not failures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sweeper must use the saga's outcome, not a timer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1371600"/>
            <a:ext cx="5120640" cy="4572000"/>
          </a:xfrm>
          <a:prstGeom prst="roundRect">
            <a:avLst>
              <a:gd name="adj" fmla="val 1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20840" y="1554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Debt we left on purpose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720840" y="2103120"/>
            <a:ext cx="46634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retention job for processed_event / outbox rows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DLT replay is manual (rare, needs a human decision)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Event classes copied per service; add-only fields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Pact test yet — the contract bug above is the case for 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Single Kafka broker (demo scope)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Live demo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verify-l0 GREEN  →  401 / 403 / 429  →  order PENDING → CONFIRMED  →  payment declined → CANCELLED + stock back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→  payment down → PENDING → CONFIRMED  →  one Zipkin trace  →  k6  →  B2 dashboard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chemeClr val="accent1"/>
                </a:solidFill>
              </a:rPr>
              <a:t>Questions welcome — every member can explain every service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stone Petrol">
  <a:themeElements>
    <a:clrScheme name="Capstone Petrol">
      <a:dk1>
        <a:srgbClr val="1B2A30"/>
      </a:dk1>
      <a:lt1>
        <a:srgbClr val="FFFFFF"/>
      </a:lt1>
      <a:dk2>
        <a:srgbClr val="0B3C49"/>
      </a:dk2>
      <a:lt2>
        <a:srgbClr val="EDF3F2"/>
      </a:lt2>
      <a:accent1>
        <a:srgbClr val="F2A541"/>
      </a:accent1>
      <a:accent2>
        <a:srgbClr val="2A9D8F"/>
      </a:accent2>
      <a:accent3>
        <a:srgbClr val="C8553D"/>
      </a:accent3>
      <a:accent4>
        <a:srgbClr val="5B7F8C"/>
      </a:accent4>
      <a:accent5>
        <a:srgbClr val="8AB0AB"/>
      </a:accent5>
      <a:accent6>
        <a:srgbClr val="3E5641"/>
      </a:accent6>
      <a:hlink>
        <a:srgbClr val="2A9D8F"/>
      </a:hlink>
      <a:folHlink>
        <a:srgbClr val="5B7F8C"/>
      </a:folHlink>
    </a:clrScheme>
    <a:fontScheme name="Capstone Petro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1681</Words>
  <Application>Microsoft Office PowerPoint</Application>
  <PresentationFormat>Widescreen</PresentationFormat>
  <Paragraphs>216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Capstone Petrol</vt:lpstr>
      <vt:lpstr>Enterprise E-Commerce Platform</vt:lpstr>
      <vt:lpstr>What we delivered, in four numbers</vt:lpstr>
      <vt:lpstr>Eight services, one entry point, three topics</vt:lpstr>
      <vt:lpstr>The order Saga: choreography + transactional outbox</vt:lpstr>
      <vt:lpstr>Every failure has a defined outcome</vt:lpstr>
      <vt:lpstr>Decisions we can defend</vt:lpstr>
      <vt:lpstr>Security: trust nothing that skipped the gateway</vt:lpstr>
      <vt:lpstr>Evidence: tests at every level</vt:lpstr>
      <vt:lpstr>Performance: one bottleneck found and fixed</vt:lpstr>
      <vt:lpstr>Bonus B2 — Order Analytics</vt:lpstr>
      <vt:lpstr>From laptop to cluster</vt:lpstr>
      <vt:lpstr>What testing the whole system caught</vt:lpstr>
      <vt:lpstr>If we started again</vt:lpstr>
      <vt:lpstr>Live demo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E-Commerce Platform — Capstone</dc:title>
  <dc:subject>PptxGenJS Presentation</dc:subject>
  <dc:creator>Nourhan Fahmy, Mohammed Selim, Doaa Amr</dc:creator>
  <cp:lastModifiedBy>Nourhan Fahmy Tamam Othman</cp:lastModifiedBy>
  <cp:revision>4</cp:revision>
  <dcterms:created xsi:type="dcterms:W3CDTF">2026-10-06T00:02:43Z</dcterms:created>
  <dcterms:modified xsi:type="dcterms:W3CDTF">2026-10-06T13:00:32Z</dcterms:modified>
</cp:coreProperties>
</file>