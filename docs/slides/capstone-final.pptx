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e38108a2-d61f-dfe6-9545-102a5d462d0a}">
          <p14:sldIdLst>
            <p14:sldId id="256"/>
          </p14:sldIdLst>
        </p14:section>
        <p14:section name="Architecture" id="{f76b243d-7286-25ec-9d04-2559ecb70dd9}">
          <p14:sldIdLst>
            <p14:sldId id="257"/>
            <p14:sldId id="258"/>
            <p14:sldId id="259"/>
            <p14:sldId id="260"/>
            <p14:sldId id="261"/>
          </p14:sldIdLst>
        </p14:section>
        <p14:section name="Implementation" id="{b2434c25-559c-09cb-1ebb-ec62f51f9b9b}">
          <p14:sldIdLst>
            <p14:sldId id="262"/>
            <p14:sldId id="263"/>
            <p14:sldId id="264"/>
            <p14:sldId id="265"/>
            <p14:sldId id="266"/>
          </p14:sldIdLst>
        </p14:section>
        <p14:section name="Lessons" id="{1765c54b-27d1-6378-4a08-435ade8d6a4a}">
          <p14:sldIdLst>
            <p14:sldId id="267"/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B3C49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B3C49"/>
                </a:solidFill>
                <a:latin typeface="+mn-lt"/>
              </a:rPr>
              <a:t>276 tests per module (mvn verify)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Tests</c:v>
                </c:pt>
              </c:strCache>
            </c:strRef>
          </c:tx>
          <c:spPr>
            <a:solidFill>
              <a:srgbClr val="2A9D8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A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payment-service</c:v>
                  </c:pt>
                  <c:pt idx="1">
                    <c:v>order-service</c:v>
                  </c:pt>
                  <c:pt idx="2">
                    <c:v>inventory-service</c:v>
                  </c:pt>
                  <c:pt idx="3">
                    <c:v>api-gateway</c:v>
                  </c:pt>
                  <c:pt idx="4">
                    <c:v>product-service</c:v>
                  </c:pt>
                  <c:pt idx="5">
                    <c:v>notification-service</c:v>
                  </c:pt>
                  <c:pt idx="6">
                    <c:v>config-server</c:v>
                  </c:pt>
                  <c:pt idx="7">
                    <c:v>eureka-server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74</c:v>
                </c:pt>
                <c:pt idx="1">
                  <c:v>69</c:v>
                </c:pt>
                <c:pt idx="2">
                  <c:v>45</c:v>
                </c:pt>
                <c:pt idx="3">
                  <c:v>32</c:v>
                </c:pt>
                <c:pt idx="4">
                  <c:v>32</c:v>
                </c:pt>
                <c:pt idx="5">
                  <c:v>18</c:v>
                </c:pt>
                <c:pt idx="6">
                  <c:v>3</c:v>
                </c:pt>
                <c:pt idx="7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B2A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A3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B3C49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B3C49"/>
                </a:solidFill>
                <a:latin typeface="+mn-lt"/>
              </a:rPr>
              <a:t>k6 load-test.js, full profile, 5 min (ms)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Target</c:v>
                </c:pt>
              </c:strCache>
            </c:strRef>
          </c:tx>
          <c:spPr>
            <a:solidFill>
              <a:srgbClr val="8AB0AB"/>
            </a:solidFill>
            <a:effectLst/>
          </c:spPr>
          <c:invertIfNegative val="0"/>
          <c:dLbls>
            <c:numFmt formatCode="0&quot; ms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A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GET /products p95</c:v>
                  </c:pt>
                  <c:pt idx="1">
                    <c:v>POST /orders p95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200</c:v>
                </c:pt>
                <c:pt idx="1">
                  <c:v>800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Measured (20 VUs)</c:v>
                </c:pt>
              </c:strCache>
            </c:strRef>
          </c:tx>
          <c:spPr>
            <a:solidFill>
              <a:srgbClr val="0B3C49"/>
            </a:solidFill>
            <a:effectLst/>
          </c:spPr>
          <c:invertIfNegative val="0"/>
          <c:dLbls>
            <c:numFmt formatCode="0&quot; ms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A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GET /products p95</c:v>
                  </c:pt>
                  <c:pt idx="1">
                    <c:v>POST /orders p95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61</c:v>
                </c:pt>
                <c:pt idx="1">
                  <c:v>182</c:v>
                </c:pt>
              </c:numCache>
            </c:numRef>
          </c:val>
        </c:ser>
        <c:dLbls>
          <c:numFmt formatCode="0&quot; ms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B2A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A3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team and the one-line promise: an order is never lost and never charged twice, and a stranger can run, deploy and load-test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number here is reproducible: mvn verify, scripts/e2e-check.sh, k6/load-test.js.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PostgreSQL database per service, Flyway only. Observability: Zipkin, Prometheus, Grafana, JSON logs with traceId.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traceparent is stored on every outbox row, so one trace spans HTTP and Kafka.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 failure modes in ADD §6, each with detection, what the customer sees, mitigation and the test that proves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row is a DECISION · OPTIONS · REASON · TRADE-OFF · REVISIT entry in the ADD. Replaced Defaults: none.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Rate limit: Redis token bucket per user or IP (FR-13); fails open if Redis is down — availability over protection.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52044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Enterprise E-Commerce Platform · Capstone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Enterprise E-Commerce Platform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52044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Capstone · Microservices with Spring Boot &amp; Spring Cloud</a:t>
            </a:r>
            <a:endParaRPr lang="en-US" sz="2000" dirty="0"/>
          </a:p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Nourhan Fahmy (A) · Mohammed Selim (B) · Doaa Amr (C) — Trainer: Dr. ElSayed Baladoh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What we delivered, in four numbers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260604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82880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88036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services behind one secured gateway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383280" y="1554480"/>
            <a:ext cx="260604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11880" y="182880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276</a:t>
            </a:r>
            <a:endParaRPr lang="en-US" sz="4800" dirty="0"/>
          </a:p>
        </p:txBody>
      </p:sp>
      <p:sp>
        <p:nvSpPr>
          <p:cNvPr id="8" name="Text 6"/>
          <p:cNvSpPr txBox="1"/>
          <p:nvPr/>
        </p:nvSpPr>
        <p:spPr>
          <a:xfrm>
            <a:off x="3611880" y="288036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automated tests, all green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17920" y="1554480"/>
            <a:ext cx="260604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46520" y="182880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39/39</a:t>
            </a:r>
            <a:endParaRPr lang="en-US" sz="480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288036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live end-to-end checks pass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9052560" y="1554480"/>
            <a:ext cx="260604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281160" y="182880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182 ms</a:t>
            </a:r>
            <a:endParaRPr lang="en-US" sz="4800" dirty="0"/>
          </a:p>
        </p:txBody>
      </p:sp>
      <p:sp>
        <p:nvSpPr>
          <p:cNvPr id="14" name="Text 12"/>
          <p:cNvSpPr txBox="1"/>
          <p:nvPr/>
        </p:nvSpPr>
        <p:spPr>
          <a:xfrm>
            <a:off x="9281160" y="288036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POST /orders p95 at 20 VUs (target 800)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34340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Problem.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The labs left a platform built one topic at a time: security rebuilt twice, stock in memory, a Saga that could lose or double-apply events, and no way for a stranger to run it. We rebuilt it once, in its final shape.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5321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4"/>
                </a:solidFill>
              </a:rPr>
              <a:t>Core FR-01…FR-16 complete · Bonus B2 Order Analytics · Docker Compose + Helm + ArgoCD · k6 load, stress and one bottleneck fixed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Eight services, one entry point, three topics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201168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52704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Client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847088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browser · Postman · k6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017520" y="1417320"/>
            <a:ext cx="274320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154680" y="152704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api-gateway :8080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154680" y="1847088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JWT · roles · rate limit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09360" y="1417320"/>
            <a:ext cx="237744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46520" y="152704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Keycloak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1847088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realm ecommerce-platform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144000" y="1417320"/>
            <a:ext cx="246888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281160" y="152704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config · eureka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9281160" y="184708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:8888 · :8761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560320" y="1874520"/>
            <a:ext cx="457200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48640" y="2880360"/>
            <a:ext cx="2084832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5800" y="2990088"/>
            <a:ext cx="18105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product :8081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331012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PG + Redis cache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816352" y="2880360"/>
            <a:ext cx="2084832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953512" y="2990088"/>
            <a:ext cx="18105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order :8082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2953512" y="331012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PG + outbox · Saga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084064" y="2880360"/>
            <a:ext cx="2084832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221224" y="2990088"/>
            <a:ext cx="18105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inventory :8084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5221224" y="331012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PG · reserve/release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351776" y="2880360"/>
            <a:ext cx="2084832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488936" y="2990088"/>
            <a:ext cx="18105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payment :8083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7488936" y="331012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PG · idempotent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9619488" y="2880360"/>
            <a:ext cx="2084832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756648" y="2990088"/>
            <a:ext cx="18105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notification :8085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9756648" y="331012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retry → DLT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389120" y="2331720"/>
            <a:ext cx="0" cy="54864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548640" y="4206240"/>
            <a:ext cx="11064240" cy="868680"/>
          </a:xfrm>
          <a:prstGeom prst="roundRect">
            <a:avLst>
              <a:gd name="adj" fmla="val 8421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77240" y="420624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Kafka   order-events  →  inventory-events  →  payment-events      (key = orderId · every topic has a &lt;topic&gt;.DLT)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53492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Sync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only where the caller needs the answer: order → inventory /check and → product price (Feign + Resilience4j).  </a:t>
            </a:r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Async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for the business transaction: the customer never waits for payment.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The order Saga: choreography + transactional outbox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52704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Order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3566160" y="152704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pre-check stock (Feign), price from catalogue, then ONE transaction: order PENDING + outbox OrderPlaced → 201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37744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377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239572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Inventory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3566160" y="239572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atomic reserve, outbox InventoryReserved (or ReservationFailed)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324612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246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326440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Payment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566160" y="326440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charge once per order (UNIQUE order_id), outbox PaymentCompleted / PaymentFailed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411480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413308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Order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3566160" y="413308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PENDING → CONFIRMED, or → CANCELLED; outbox OrderConfirmed / OrderCancelled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98348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983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500176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Inventory · Notification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3566160" y="500176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consume or release the stock; tell the customer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503920" y="1417320"/>
            <a:ext cx="3108960" cy="429768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732520" y="16002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Why this shape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8732520" y="2057400"/>
            <a:ext cx="26974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3 participants in a line, no branching → no orchestrator to keep alive (Decision 5-1)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Outbox: an order and its event are never split; Kafka down = event waits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At-least-once + processed_event dedup in the same transaction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Switch to orchestration if a branching rule appears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Every failure has a defined outcome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4592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!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6916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No stock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28600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409 OUT_OF_STOCK before any row exists; payment never touched. Not counted by the circuit breaker.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297680" y="141732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26280" y="164592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2628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!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120640" y="16916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Inventory slow or down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526280" y="228600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 s timeout, one retry, circuit breaker, bulkhead → 503 fast; no half-built order.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46720" y="141732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75320" y="164592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7532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!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869680" y="16916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Payment declined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8275320" y="228600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PaymentFailed → stock released, order CANCELLED, customer notified (compensation).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379476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" y="40233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!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40690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Payment down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4663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Events wait in Kafka; order stays PENDING and completes when payment returns (NFR-01).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297680" y="379476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26280" y="402336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26280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!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120640" y="40690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 consumer keeps failing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4526280" y="4663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3 retries, then &lt;topic&gt;.DLT + ALERT log; the partition keeps moving (NFR-10).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8046720" y="379476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75320" y="40233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75320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!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8869680" y="40690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Saga stuck / cancel missed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8275320" y="4663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Order sweeper cancels after 10 min; inventory sweeper frees stock of cancelled orders (NFR-05).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Decisions we can defend</a:t>
            </a:r>
            <a:endParaRPr lang="en-US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4023360"/>
                <a:gridCol w="37490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Decision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Why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Trade-off we accept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30"/>
                          </a:solidFill>
                        </a:rPr>
                        <a:t>Choreography Saga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30"/>
                          </a:solidFill>
                        </a:rPr>
                        <a:t>3 linear steps; nothing to keep alive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30"/>
                          </a:solidFill>
                        </a:rPr>
                        <a:t>flow spread over 3 services → tracing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30"/>
                          </a:solidFill>
                        </a:rPr>
                        <a:t>Outbox in every producer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30"/>
                          </a:solidFill>
                        </a:rPr>
                        <a:t>no lost or phantom events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30"/>
                          </a:solidFill>
                        </a:rPr>
                        <a:t>at-least-once, ~500 ms poll delay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30"/>
                          </a:solidFill>
                        </a:rPr>
                        <a:t>Release stock by outcome, not age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30"/>
                          </a:solidFill>
                        </a:rPr>
                        <a:t>age-based release oversold a slow-but-paid order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30"/>
                          </a:solidFill>
                        </a:rPr>
                        <a:t>small cancelled_order table in inventory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30"/>
                          </a:solidFill>
                        </a:rPr>
                        <a:t>One fallback, outermost; sold-out ≠ failure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30"/>
                          </a:solidFill>
                        </a:rPr>
                        <a:t>sold-out products used to open the circuit for everyone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30"/>
                          </a:solidFill>
                        </a:rPr>
                        <a:t>a broken 'no' shows as 409s, not an open circuit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30"/>
                          </a:solidFill>
                        </a:rPr>
                        <a:t>JWT checked at gateway AND every service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30"/>
                          </a:solidFill>
                        </a:rPr>
                        <a:t>pods are reachable inside the cluster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30"/>
                          </a:solidFill>
                        </a:rPr>
                        <a:t>signature checked twice (JWKS cached)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30"/>
                          </a:solidFill>
                        </a:rPr>
                        <a:t>B2 inside order-service, own tables V50+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30"/>
                          </a:solidFill>
                        </a:rPr>
                        <a:t>no new deployable, chart or database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30"/>
                          </a:solidFill>
                        </a:rPr>
                        <a:t>shares order-service's lifecycle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Security: trust nothing that skipped the gateway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6424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5544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Gateway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3840480" y="1554480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OAuth2 Resource Server (Keycloak); strips X-User-* and sets it from the token; 401/403/429 as RFC 7807; /inventory/check never routed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1106424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74320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Every service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3840480" y="2743200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validates the JWT again; ADMIN on catalogue writes, stock, payments, analytics; customers read only their own orders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794760"/>
            <a:ext cx="1106424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39319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Service to service (FR-14)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3840480" y="3931920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order-service calls inventory with its own client-credentials token (role SERVICE); a customer token gets 403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4983480"/>
            <a:ext cx="1106424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51206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Secrets (NFR-04)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840480" y="5120640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.env and Kubernetes Secrets only; realm export uses ${PLACEHOLDERS}; gitleaks + non-root guard in CI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Evidence: tests at every level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25880"/>
          <a:ext cx="65836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7498080" y="1417320"/>
            <a:ext cx="411480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26680" y="1527048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85%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9326880" y="152704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order.application line coverage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7498080" y="2560320"/>
            <a:ext cx="411480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26680" y="2670048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85%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9326880" y="267004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inventory.application coverage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7498080" y="3703320"/>
            <a:ext cx="411480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726680" y="3813048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≥ 60 %</a:t>
            </a:r>
            <a:endParaRPr lang="en-US" sz="2800" dirty="0"/>
          </a:p>
        </p:txBody>
      </p:sp>
      <p:sp>
        <p:nvSpPr>
          <p:cNvPr id="12" name="Text 9"/>
          <p:cNvSpPr txBox="1"/>
          <p:nvPr/>
        </p:nvSpPr>
        <p:spPr>
          <a:xfrm>
            <a:off x="9326880" y="381304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JaCoCo gate fails the build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7498080" y="493776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Testcontainers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for every database-owning service ·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embedded Kafka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for retry → DLT ·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WireMock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for resilience and FR-14 · </a:t>
            </a:r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scripts/e2e-check.sh: 39/39 live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Performance: targets met with a wide margin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25880"/>
          <a:ext cx="60350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6949440" y="1417320"/>
            <a:ext cx="466344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178040" y="15087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59.8 req/s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9326880" y="1508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catalogue reads (target ≥ 50)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949440" y="2514600"/>
            <a:ext cx="466344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178040" y="260604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0.00 %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9326880" y="26060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errors over 28,735 requests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949440" y="3611880"/>
            <a:ext cx="466344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178040" y="370332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0 errors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9326880" y="37033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128,427 requests at up to 150 VUs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949440" y="480060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Bottleneck found and fixed: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two serial remote calls per order. A 60 s price cache took POST /orders p95 from 600 to 443 ms in a controlled A/B.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Bonus B2 — Order Analytics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94960" cy="4480560"/>
          </a:xfrm>
          <a:prstGeom prst="roundRect">
            <a:avLst>
              <a:gd name="adj" fmla="val 16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Operations can see volume, revenue and Saga failures without touching a database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743200"/>
            <a:ext cx="49377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CQRS read model from order-events (own consumer group)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GET /api/v1/analytics/summary — ADMIN only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 redelivered event never changes a count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Grafana: orders/min by status, revenue, Saga failure rate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309360" y="1417320"/>
            <a:ext cx="530352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0" y="1600200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0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8321040" y="160020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new deployables, charts or databases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309360" y="2971800"/>
            <a:ext cx="530352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0" y="3154680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V50+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315468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own migrations in order_db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309360" y="4526280"/>
            <a:ext cx="530352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0" y="4709160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5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470916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Grafana panels (3 required)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From laptop to cluster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6002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Docker Compose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3657600" y="1600200"/>
            <a:ext cx="7955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16 containers healthy; scripts/verify-l0.sh checks infra, config-server and Eureka registration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743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743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27432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Images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657600" y="2743200"/>
            <a:ext cx="7955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multi-stage, non-root, HEALTHCHECK; CI: test gate → build → push to GHCR tagged with the commit SHA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48640" y="3886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38862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Helm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3886200"/>
            <a:ext cx="7955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one shared chart, values per service; probes, ServiceAccount per service, Secrets via envFrom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5029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5029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50292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ArgoCD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3657600" y="5029200"/>
            <a:ext cx="7955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ApplicationSet, automated + selfHeal + prune; a manual change in the cluster is reverted to Git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What testing the whole system caught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44068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4592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✓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69164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Notification never notified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286000"/>
            <a:ext cx="4983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Unit tests on both sides were green; the live run showed every order event parked on the DLT — two shapes of one contract.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172200" y="1417320"/>
            <a:ext cx="544068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64592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✓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995160" y="169164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Sold-out opened the circuit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0" y="2286000"/>
            <a:ext cx="4983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Out-of-stock counted as a failure: three sold-out orders gave every customer 503.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749040"/>
            <a:ext cx="544068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397764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✓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371600" y="402336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Saga steps could vanish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4617720"/>
            <a:ext cx="4983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Order and inventory listeners swallowed errors; now retry → DLT, proven on a real broker.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172200" y="3749040"/>
            <a:ext cx="544068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0" y="397764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0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995160" y="402336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Coverage gate never ran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0" y="4617720"/>
            <a:ext cx="4983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 surefire argLine dropped the JaCoCo agent, so the 60 % check silently skipped.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If we started again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Lessons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20240"/>
            <a:ext cx="54864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Merge small PRs from day 1; one branch per member hid integration bugs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Run the whole system early: contracts break between green unit tests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An ADD claim is a test not yet written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One fallback, outermost; business answers are not failures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 sweeper must use the saga's outcome, not a timer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92240" y="1371600"/>
            <a:ext cx="5120640" cy="4572000"/>
          </a:xfrm>
          <a:prstGeom prst="roundRect">
            <a:avLst>
              <a:gd name="adj" fmla="val 1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720840" y="15544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Debt we left on purpose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6720840" y="2103120"/>
            <a:ext cx="46634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No retention job for processed_event / outbox rows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DLT replay is manual (rare, needs a human decision)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Event classes copied per service; add-only fields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No Pact test yet — the contract bug above is the case for it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Single Kafka broker (demo scope)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Live demo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52044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verify-l0 GREEN  →  401 / 403 / 429  →  order PENDING → CONFIRMED  →  payment declined → CANCELLED + stock back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→  payment down → PENDING → CONFIRMED  →  one Zipkin trace  →  k6  →  B2 dashboard</a:t>
            </a:r>
            <a:endParaRPr lang="en-US" sz="2000" dirty="0"/>
          </a:p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</a:rPr>
              <a:t>Questions welcome — every member can explain every service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pstone Petrol">
  <a:themeElements>
    <a:clrScheme name="Capstone Petrol">
      <a:dk1>
        <a:srgbClr val="1B2A30"/>
      </a:dk1>
      <a:lt1>
        <a:srgbClr val="FFFFFF"/>
      </a:lt1>
      <a:dk2>
        <a:srgbClr val="0B3C49"/>
      </a:dk2>
      <a:lt2>
        <a:srgbClr val="EDF3F2"/>
      </a:lt2>
      <a:accent1>
        <a:srgbClr val="F2A541"/>
      </a:accent1>
      <a:accent2>
        <a:srgbClr val="2A9D8F"/>
      </a:accent2>
      <a:accent3>
        <a:srgbClr val="C8553D"/>
      </a:accent3>
      <a:accent4>
        <a:srgbClr val="5B7F8C"/>
      </a:accent4>
      <a:accent5>
        <a:srgbClr val="8AB0AB"/>
      </a:accent5>
      <a:accent6>
        <a:srgbClr val="3E5641"/>
      </a:accent6>
      <a:hlink>
        <a:srgbClr val="2A9D8F"/>
      </a:hlink>
      <a:folHlink>
        <a:srgbClr val="5B7F8C"/>
      </a:folHlink>
    </a:clrScheme>
    <a:fontScheme name="Capstone Petrol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Enterprise E-Commerce Platform — Capstone</dc:title>
  <dc:subject>PptxGenJS Presentation</dc:subject>
  <dc:creator>Nourhan Fahmy, Mohammed Selim, Doaa Amr</dc:creator>
  <cp:lastModifiedBy>Nourhan Fahmy, Mohammed Selim, Doaa Amr</cp:lastModifiedBy>
  <cp:revision>1</cp:revision>
  <dcterms:created xsi:type="dcterms:W3CDTF">2026-10-06T00:02:43Z</dcterms:created>
  <dcterms:modified xsi:type="dcterms:W3CDTF">2026-10-06T00:02:43Z</dcterms:modified>
</cp:coreProperties>
</file>